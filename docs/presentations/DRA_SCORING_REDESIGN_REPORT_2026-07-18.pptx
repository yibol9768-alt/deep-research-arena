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开场先给结论：我们不是把旧系统推翻重做，而是把旧系统中有价值的 URL、抓取和事实检测器下沉到正确的评分层级。整套汇报依次讲问题、文献、方案和实施。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这一页是全场主线。全量层做廉价结构，按题层做昂贵语义，评分层看报告是否以本次可观察证据完成用户要求。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说明这不是单纯的评分公式讨论。我们从测量目标出发，先用文献验证，再落到可实现、可校准、可发布的工程计划。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DRA 研究对象是 harness，而不仅是模型。网页世界和工具面可控，让我们有条件做开放网络基准做不到的运行内证据审计。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这页纠正“我们拥有整个世界”可能引发的过度主张。我们拥有可审计文档边界，但不拥有全部语义。后面因此采用全量轻量结构、按题局部语义。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用四类任务划边界。DRA 的广度不等于列全表，深度也不等于多跳答案；最终产物是综合报告。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不要把旧方案描述成拍脑袋。它试图同时覆盖内容、抓取与 URL 来源。问题在于这些信号的抽象层级不同，报告级相加再相乘无法表达局部 claim—evidence 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S、F、L 分别是搜索暴露、成功抓取、页面链接出现。旧 provenance 很适合检测 URL 是否可由本次运行解释，但它没有把支持段落和附近 claim 绑定起来。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 不是没用，而是应该在需要价格、规格、评分等原子前提时执行。它不应以固定报告级权重代表整个 Deep Research 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新版必须记录 raw fetch 到 delivered artifact 的变换血统。只有支持跨度确实进入模型可见上下文，才能认为本次运行观察到了证据。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route-binding。出题者使用的 witness 是答案存在性的证书，不是参赛系统必须复现的路径。运行时应按证据合同接受未预选但合格的在册页面。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报告级乘法不是数学上非法，而是不能表达“哪条研究义务由哪份证据支撑”。新版把乘法保留为 check 内的逻辑门 C×E。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不是正式榜结果，但非常适合作为方法动机。新评分需要保留“做了一部分”的信息，同时严格区分内容写到与证据真正通过。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这一页把后续所有设计选择变成约束满足问题。特别强调自动化、固定程序和不依赖复杂人工 rubric 是不可丢的初心。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章节过渡：DRA 真正应该怎样评。把 Deep Research 拆成发现 → 观察 → 利用 → 完成；广度有分母，质量有独立面板。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发现不等于观察，观察不等于利用，利用不等于完成。DRA-GRC 在“完成”层计分，但证据门会检查此前关键环节。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facet 来自用户明示需求和不可删除的研究义务。每个 facet 等权，避免一个有很多规格字段的方向淹没一个需要真正综合的方向。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这一层级解决 rubric 粒度和事实密度问题。原子事实不会因为数量多就自动拿更多主分，它们只是完成更高层 research checks 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冻结 registry 不是互联网存在性谕机。因此必须把确认不存在的虚构 URL，与真实但越出冻结世界的 URL 分开。两者都不能支持得分，但只有前者默认触发任务级造假门。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这些分类解决“一个报告到底好在哪、坏在哪”。只有 URL 真实不代表证据真的进入过当次模型上下文，也不代表它支持附近说法。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质量面板不再判断事实真假或 URL 真实，只看相同 grounded work 完成后的表达、综合和效用差异。这样避免双重计分。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章节过渡：美团 LoHoSearch：全量世界如何真正被利用。详细拆解：全图轻量建模、局部子图采样、自然语言化、唯一性检查、难度过滤与人工审核。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先把工作定位清楚：它测的是最终唯一实体答案和长时程搜索，不生成长报告。我们借鉴其数据构建工程原则，不照搬评分对象。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LoHoSearch 的论证和设计动机，不是一个已被因果实验证明的通用规律。论文不是简单增加 hop 数，而是同时放大单关系候选集和联合约束结构。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这一页停留稍久。指出真正的全量工作只在左侧：页面、链接、P31 类型与入度。关系描述抽取、问题生成和人工审核都在采样子图或最终问题上。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DRA 从 LoHoSearch 得到的关键纠偏：全量轻量索引是可行的，全量开放式语义抽取则不是论文做过的事情。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删除测试是很强的构造思想：任何一级条件被删掉，答案不再唯一，因此每条关系都是必要的。DRA 可以借鉴 deletion test，但目标不是唯一答案，而是必要研究方向。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图结构不是简单增加更多节点，而是通过循环和交叉边让问题无法拆成独立子问题。其唯一性检查在完整图上做回溯。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这一阶段防止生成题退化成关键词搜索。DRA 可借鉴“先结构后自然语言化”和 round-trip coverage check，但我们隐藏的是证据路线，不应隐藏用户研究需求。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LoHoSearch 的自动化并不等于零人工。它公开了直接通过、轻微修改和严重拒绝比例。DRA 也应公开 compiler 编辑率、致命错误率和人工时间。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LoHoSearch 的贡献是更长、更难管理的搜索过程。它用最终实体准确率即可评分，因为目标答案形态简单；DRA 的长报告需要更丰富的研究测试。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这是防止汇报被 challenge 的关键页。不要说“美团证明了全量事实抽取可行”。他们全量的是结构图，语义处理是局部的。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用对照表明确迁移关系。DRA 的全量层更异构，但仍是结构性；按题层需要更多语义类型；最终评分是报告研究覆盖，不是唯一答案。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章节过渡：其他工作提供了哪些“积木”。没有一篇论文直接给出完整答案；我们需要组合 evidence-first 构题、广度分母、冻结环境、引用审计与长报告质量。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这两篇说明 rubric 不能在看不到证据的情况下凭 query 盲猜。DRA 保留反向构造，但必须防止 witness URL 变成唯一合法路线。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严格完整通过在广泛任务上会很低，这不代表 benchmark 失败。连续覆盖告诉我们完成到哪里，Task Solve Rate 告诉我们有多少任务完整解决。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冻结环境让不同系统看到同一世界，但如果只检查最终答案或 gold 文档，仍不能判断模型是否使用了替代证据、是否看到支持跨度。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并不是坏方法，问题是每题手工成本、细粒度一致性和参考报告路线继承。DRA 改成 compiler-generated, audit-frozen test suite。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FActScore 类指标适合做报告 claim precision 诊断，但会奖励少说。DRA 主分的分母来自 query，claim audit 则作为补充。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矩阵说明 DRA 的组合创新空间：冻结文档世界、query-conditioned 广度、运行内 span 交付、合同接受替代证据、长报告质量分离。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这页可以作为论文 contribution 的雏形，但每项主张必须经过后续验证门。现在只是设计目标，不能提前声称已经证明。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章节过渡：DRA 沙盒原生评分：v3.2 基线 + v3.3 候选修订。World Index → Task World Model → Research Test Suite → Execution Audit；Raw coverage 与 integrity-adjusted ranking 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World Index 负责文档闭合，Task World Model 负责按题语义，Research Test Suite 负责把用户需求变成可执行测试，Execution Audit 负责在一次运行上执行。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强调表格和论坛结构不能扁平化丢上下文。World Index 的验收是重复构建 hash/ID 一致、span 可回到原页面、没有静默丢页。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TWM 是 task-scoped semantics，不是全库真理。商品主张、社区经验和技术机制保存不同 modality，防止营销页或个案被升级成客观性能事实。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每题仍有 task-specific tests，但由统一 compiler 从 query 和 TWM 生成，人工负责校准 builder 而不是写唯一答案路线。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这页主动承认评分设计的最核心主观源。我们不靠口头说 rubric 合理，而是对 builder 做人工带、删除测试、合法替代误拒率和捷径误收率验证。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这页从 query 里拆出价格/候选、输出/失真和泳池场景三项研究工作。价格必须同时点，失真必须保留测试条件，IPX7 必须分开标准定义、商品主张与用户个案。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比如 Hi-Res 不再强制调研 LDAC；如果两个商品页都没有该宣传，有界未发现本身就是一条合法路线。论坛证据也不强制命中预选页面；合法的有界未发现可以通过。推荐不锁定商品名。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reference-route overfitting 的直接解法。known witnesses 只用于 answerability；任何未预选但满足 Γ 的在册证据都能通过。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这解决提交顺序依赖。如果运行时遇到一个新的合法页面，不能当场改全局接受集；应收齐当期 novel pairs，批量盲裁后对所有提交在同一 snapshot 下重算。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HTTP 200 不足以证明观察。adapter 可能截断、抽取或摘要；只有 delivered artifact 对应模型可见内容。摘要还需要 CaptureFidelity / Sufficiency canary。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这里保留了乘法，但位置正确：在每个 check 内做逻辑合取。先选一条完整路线 r，确认它的型号、版本、时间、实验条件和 scope 一致，再在路线内合取。这防止不同页面的有利前提被拼成不存在的 Frankenstein route。Xₖ 另外防止忽略 material counterevidence。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不能把所有 checks 直接 micro average，否则 compiler 更啰嗦的任务权重更高。同时不能声称所有 facet 天然等重：如果 query 说“失真风险优先于原始功率”，Task Contract 必须在冻结前编码这个优先级。所谓粒度不变不是自然成立，需用 obligation group mass 和 split/merge 敏感性审计保证。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这页是最具体的评分推演。它也说明 C 不能等于正确：报告确实讨论了失真，但把商品页的一个数值过度推断成高音量表现，因此 evidence support 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用户此前确认要汇报完整通过与部分通过。这里的部分通过不是走了参考路线多少步，而是必要 research checks 有证据地完成了多少。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不再用“不在 registry”直接推出“URL 不存在”。默认只有盲复核后确认不存在的 fabricated citation 触发当题清零；off-world 首先作为证据无效与协议违规，并在 Dev-14 / 对照输出上做 task-gate 敏感性分析。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如果质量轴之间无法建立判别效度，就联合报告或降为探索性，不强行合成。κ 只说明一致性，不能替代主分构念效度验证。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GRC 保留了“有证据覆盖率”的构念含义；Integrity-adjusted GRC 是榜单政策分。两者必须并列，否则一个由造假门得到的 0 会被误读成“研究覆盖为 0”。还要报分数与报告长度/引用数的相关性。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A 与 Gate B 是方法的基础。必须先用可控的参考报告和局部腐蚀证明评分器的单调性、局部性和抗捷径，再证明 World Index / TWM / compiler 给出的任务结构稳定且可答。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这页避免循环证明。如果专家看到了 RTS 或 DRA 分数，再评“调研广度”，只是在复述 evaluator。专家必须在不知道新旧评分结果的前提下独立判断。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章节过渡：后续实施路线。先证明一道题的方法闭环，再扩到三类任务、Dev-14 和 56 题；发布门不过，不发榜。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S 和 Route G 的不同不应被隐藏。前者是自然问题的 query-first 结构恢复，后者是从可答局部世界反向生成。两者可共用同一评分协议，但数据来源不同，所以必须分层报告。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这页对应用户之前的表达：先有商品、属性、论坛经验、机制、冲突和 URL，再选局部子图，用 evaluator 编译可答测试，最后隐藏证据路线只保留自然用户需求。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不先批量生成 56 份 rubric。先把一道题做到任何人都能沿着证书重放，并且明确区分 benchmark 错误、adapter 错误和 harness 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这页直接吸收了之前搜索污染实验的教训。即使 12 个 harness 都面对同一个差 API，对比也只是一致地受限，不能证明 benchmark 测到了应测的研究能力。需要为 API 本身发布质量证书。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这回应了“难道要先跑完 12 个 harness 才能判断新系统吗”。答案是不需要。12 个现有 harness 用来特征化 benchmark 和挖攻击面；新 harness 只需要满足公开 adapter 合同、跑冻结任务并提交可回放的 seal bundle。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校准对象是测量系统：编译器有没有找到 query 真正需要的 research checks，matcher 和 judge 会不会拒绝合法替代证据。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这回应一个重要质疑：不需要跑完 12 个 harness 才能定义一道题。我们用它们做 adversarial discovery，但题目的合法证据契约来自 query 和冻结世界。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这页防止方案看起来像一个无法落地的愿望清单。当前应把资源集中在论文最小闭环；没有通过 A 之前，不应投入大规模 twin-world 或完整质量面板。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我们必须报人工编辑率和分歧类型。如果 compiler 的输出需要大量重写，自动化主张就不成立。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题目数量不是主要门槛。每道题必须经过 query 语义往返检查、证据可答性和捷径测试；否则它只是一条自然语言 prompt，不是可评测任务。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这页是审稿防线。不是说我们没有误差，而是每一个关键误差源都有可观测的指标和预先声明的停机条件。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时间线是为了保证顺序而不是承诺日期。最关键的是不能在单题 matcher 和 observation 协议还不稳定时就扩到 56 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 harness 的分数只是方法的一个输入样本。先用可控的参考报告和局部攻击证明评分器有所需的不变性，然后才有意义解释 harness 分数。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这五句是整场汇报的最简摘要。如果只剩两分钟，就用这页收束。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详细引文位置已放在各页页脚。这页作为主要参考文献入口，不代替正式论文中的完整参考文献表。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1371600"/>
            <a:ext cx="6035040" cy="6035040"/>
          </a:xfrm>
          <a:prstGeom prst="arc">
            <a:avLst/>
          </a:prstGeom>
          <a:solidFill>
            <a:srgbClr val="2EC4B6">
              <a:alpha val="30000"/>
            </a:srgbClr>
          </a:solidFill>
          <a:ln w="2540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280000">
            <a:off x="8778240" y="1828800"/>
            <a:ext cx="4754880" cy="4754880"/>
          </a:xfrm>
          <a:prstGeom prst="arc">
            <a:avLst/>
          </a:prstGeom>
          <a:solidFill>
            <a:srgbClr val="2563EB">
              <a:alpha val="18000"/>
            </a:srgbClr>
          </a:solidFill>
          <a:ln w="254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601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评测重构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177393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从报告级乘法到沙盒原生证据测试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A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旧评分为什么不够  ·  LoHoSearch 给我们的启发  ·  DRA v3.2 基线 + v3.3 候选修订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336499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73A45"/>
          </a:solidFill>
          <a:ln w="12700">
            <a:solidFill>
              <a:srgbClr val="173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41071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长篇 Deep Research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505456" y="3364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83154"/>
          </a:solidFill>
          <a:ln w="12700">
            <a:solidFill>
              <a:srgbClr val="183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3410712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A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冻结网页沙盒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050792" y="3364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49371E"/>
          </a:solidFill>
          <a:ln w="12700">
            <a:solidFill>
              <a:srgbClr val="4937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341071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Harness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321808" y="3364992"/>
            <a:ext cx="1344168" cy="310896"/>
          </a:xfrm>
          <a:prstGeom prst="roundRect">
            <a:avLst>
              <a:gd name="adj" fmla="val 23529"/>
            </a:avLst>
          </a:prstGeom>
          <a:solidFill>
            <a:srgbClr val="153D38"/>
          </a:solidFill>
          <a:ln w="12700">
            <a:solidFill>
              <a:srgbClr val="153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3410712"/>
            <a:ext cx="12527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可审计证据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4672" y="38862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2C214B"/>
          </a:solidFill>
          <a:ln w="12700">
            <a:solidFill>
              <a:srgbClr val="2C21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931920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长版 · 约 90 分钟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22960" y="58704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刘弈博 · 2026-07-18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Research Arena · Sandbox-native evaluation redesign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的优势不是“有一个更聪明的 LLM judge”，而是我们拥有一个有限、冻结、可回放的网页世界。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我们不需要写出一份唯一标准答案，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也不需要抽取全世界所有事实。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577840" y="2084832"/>
            <a:ext cx="96012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720840" y="16002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我们需要把每一项“研究工作”编译成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可执行、可追溯、允许替代证据的测试。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13232" y="3246120"/>
            <a:ext cx="25420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3246120"/>
            <a:ext cx="73152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4107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1832" y="381304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世界里有哪些文档？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73552" y="3968496"/>
            <a:ext cx="219456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9584" y="3246120"/>
            <a:ext cx="25420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9584" y="3246120"/>
            <a:ext cx="73152" cy="14447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34107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World Model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58184" y="381304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这道题的证据区域说了什么？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9904" y="3968496"/>
            <a:ext cx="219456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45936" y="3246120"/>
            <a:ext cx="25420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3246120"/>
            <a:ext cx="73152" cy="144475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4536" y="34107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Test Suite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74536" y="381304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怎样算完成了这项调研？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06256" y="3968496"/>
            <a:ext cx="219456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62288" y="3246120"/>
            <a:ext cx="25420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62288" y="3246120"/>
            <a:ext cx="73152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0888" y="34107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Audit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90888" y="381304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证据本次真的交付并被正确使用了吗？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057400" y="5212080"/>
            <a:ext cx="8046720" cy="74980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40280" y="53492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主分：有本次交付证据完成的必要研究工作占比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design: DRA_SANDBOX_NATIVE_SCORING_DESIGN_2026-07-17.md (v3.2)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今天要回答五个问题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12984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1328" y="1298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旧评分为什么不够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45152" y="131673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/ PoF / Completeness / Provenance 的层级错位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1481328" y="1929384"/>
            <a:ext cx="973836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3113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2311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真正应该测什么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2494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发现、观察、利用、完成；广度与报告质量分离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1481328" y="2862072"/>
            <a:ext cx="973836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16382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31638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做对了什么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31821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全图轻量结构 + 局部昂贵语义 + 自动与人工验证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1481328" y="3794760"/>
            <a:ext cx="973836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09651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其他论文提供了哪些积木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5152" y="41148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 co-design、冻结环境、广度分母、引用审计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1481328" y="4727448"/>
            <a:ext cx="973836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02920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1328" y="50292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我们接下来怎么落地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45152" y="5047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基线 + v3.3 候选修订、验证矩阵、Dev-14 与 56 题扩展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 structure · 2026-07-18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WHY THE OLD SCORE FAILED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的实验对象：同一世界中的 12 种研究系统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控制变量不是一句口号，而是任务、底模、网页、工具身份与运行证据都被冻结。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444752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44752"/>
            <a:ext cx="73152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统一输入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190195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同一公共输出要求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同一任务 manifest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不向 agent 暴露 scorer-shaped 提示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45536" y="1444752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1444752"/>
            <a:ext cx="73152" cy="35661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统一世界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74136" y="2011680"/>
            <a:ext cx="190195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Magento 商城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Postmill 论坛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Kiwix Wikipedia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URL registry 与搜索 API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32704" y="1444752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32704" y="1444752"/>
            <a:ext cx="73152" cy="35661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61304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统一比较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61304" y="2011680"/>
            <a:ext cx="190195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harness adapter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相同底模与预算协议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运行日志与报告 seal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固定任务集做宏平均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19872" y="1444752"/>
            <a:ext cx="3401568" cy="35661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9872" y="1444752"/>
            <a:ext cx="73152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160934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输出不是一个答案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48472" y="2011680"/>
            <a:ext cx="30175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长篇报告需要：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多方向检索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跨来源比较与机制解释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冲突、条件和不确定性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面向用户约束的建议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就地引用与可复核证据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3232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目标配置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53583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5404104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道正式任务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520440" y="5358384"/>
            <a:ext cx="1536192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5404104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校准子集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239512" y="535838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5404104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Harness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519672" y="5358384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5404104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一个固定文档世界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current method + v3.2 design; internal task/harness manifests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MEASUREMENT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我们“拥有整个世界”——但只拥有文档世界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可辩护的闭合边界必须比“全知事实表”更精确。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76672" cy="4343400"/>
          </a:xfrm>
          <a:prstGeom prst="roundRect">
            <a:avLst>
              <a:gd name="adj" fmla="val 1684"/>
            </a:avLst>
          </a:prstGeom>
          <a:solidFill>
            <a:srgbClr val="F4FFFB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343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可以穷尽并冻结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7552" y="215798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05740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允许访问的 URL、canonical alias 与 redirect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279806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69748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URL 的快照、状态、内容 hash 与结构 span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7552" y="343814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33756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表格、商品字段、论坛 post/reply、页面链接图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7552" y="407822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97764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本次运行真正交付给 agent 的 artifact 与 span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7552" y="471830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61772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compiler 在单题范围生成的语义资产与测试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141732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FF8FA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417320"/>
            <a:ext cx="73152" cy="43434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15819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不能声称穷尽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11112" y="215798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057400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每页中所有可能的自然语言命题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1112" y="279806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697480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所有合理的人类解释与推理路线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11112" y="343814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337560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可能生成的无限搜索词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11112" y="407822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977640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所有替代证据组合与未来策略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11112" y="471830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4617720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沙盒外现实世界的完整真理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48840" y="5916168"/>
            <a:ext cx="7955280" cy="43891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31720" y="60533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Closed document universe  ≠  complete semantic universe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§4.1 — Closed Documents, Task-Scoped Semantics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CONSTRUCT DEFINITION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Research 不是把 QA 做得更长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41732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任务形态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75688" y="1417320"/>
            <a:ext cx="233172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46304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主要输出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79476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63040"/>
            <a:ext cx="3648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关键难点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02168" y="1417320"/>
            <a:ext cx="324612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6304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的关系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130552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76272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QA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2130552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176272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一个事实 / 短答案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07408" y="2130552"/>
            <a:ext cx="37947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176272"/>
            <a:ext cx="3648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定位并验证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02168" y="2130552"/>
            <a:ext cx="32461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176272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2843784"/>
            <a:ext cx="14173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89504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Search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75688" y="2843784"/>
            <a:ext cx="23317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2889504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少量难找答案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2843784"/>
            <a:ext cx="379476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889504"/>
            <a:ext cx="3648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多跳定位与消歧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02168" y="2843784"/>
            <a:ext cx="32461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889504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相邻能力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557016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02736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Wide Search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75688" y="3557016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3602736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大规模实体 / 字段表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07408" y="3557016"/>
            <a:ext cx="37947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602736"/>
            <a:ext cx="3648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枚举、去重、停止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02168" y="3557016"/>
            <a:ext cx="32461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3602736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覆盖“广度”的一部分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4270248"/>
            <a:ext cx="14173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315968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Research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75688" y="4270248"/>
            <a:ext cx="23317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4315968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长篇、结构化、带引用报告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07408" y="4270248"/>
            <a:ext cx="379476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4315968"/>
            <a:ext cx="3648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分解、跨源综合、冲突、条件、建议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02168" y="4270248"/>
            <a:ext cx="32461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4315968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核心对象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" y="5285232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" y="5285232"/>
            <a:ext cx="73152" cy="8229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" y="538581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因此不能只问“答案对不对”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05256" y="5641848"/>
            <a:ext cx="10588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底层事实可以做确定性核验，但正式评分对象必须覆盖比较、机制、冲突、跨来源综合、教程、预算方案和推荐。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WideSearch (arXiv:2508.07999); DeepWideSearch (arXiv:2510.20168); DRA v3.2 §1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HISTORICAL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最开始的做法：三个质量项加权，再乘 Provenance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旧方案抓住了重要信号，但把不同层级的构念压成了一个报告级混合分。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0120" y="1517904"/>
            <a:ext cx="10241280" cy="84124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65506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Q_old = 0.39 × Fact + 0.28 × ProofOfFetch + 0.33 × Completeness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880360" y="2624328"/>
            <a:ext cx="6400800" cy="82296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27614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Truth_old = Provenance × Q_old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" y="397764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977640"/>
            <a:ext cx="73152" cy="13258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1422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" y="4544568"/>
            <a:ext cx="21579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结构化商品事实：主要是价格与 overall rating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3566160" y="397764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3977640"/>
            <a:ext cx="73152" cy="13258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1422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ProofOfFetch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4544568"/>
            <a:ext cx="21579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报告引用页是否出现在本次抓取集合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382512" y="397764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3977640"/>
            <a:ext cx="73152" cy="132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41422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1112" y="4544568"/>
            <a:ext cx="21579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答案键 vital nuggets / concept / forum slot 覆盖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198864" y="397764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98864" y="397764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7464" y="41422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27464" y="4544568"/>
            <a:ext cx="21579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 URL 能否由搜索、抓取或已抓页面链接解释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2450592" y="5650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历史候选还讨论过 Provenance^1.5，但没有独立构念或校准依据。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DRA_CURRENT_METHOD_2026-07-14.md §0, §10; formula tv2.5 linear provenance gate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PROVENANCE SEMANTICS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Provenance 能证明“URL 不是凭空猜的”，但不能证明“说法有证据”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1051560" y="1847088"/>
            <a:ext cx="2743200" cy="2743200"/>
          </a:xfrm>
          <a:prstGeom prst="ellipse">
            <a:avLst/>
          </a:prstGeom>
          <a:solidFill>
            <a:srgbClr val="2563EB">
              <a:alpha val="33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75688" y="261518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5608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搜索接口返回过的 URL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2880360" y="1847088"/>
            <a:ext cx="2743200" cy="2743200"/>
          </a:xfrm>
          <a:prstGeom prst="ellipse">
            <a:avLst/>
          </a:prstGeom>
          <a:solidFill>
            <a:srgbClr val="2EC4B6">
              <a:alpha val="33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4488" y="261518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64408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本次成功抓取、HTTP 200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709160" y="1847088"/>
            <a:ext cx="2743200" cy="2743200"/>
          </a:xfrm>
          <a:prstGeom prst="ellipse">
            <a:avLst/>
          </a:prstGeom>
          <a:solidFill>
            <a:srgbClr val="FF9F1C">
              <a:alpha val="33000"/>
            </a:srgbClr>
          </a:solidFill>
          <a:ln w="254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261518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93208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已抓正文中出现过的链接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909560" y="148132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09560" y="1481328"/>
            <a:ext cx="73152" cy="1417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459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旧规则回答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2048256"/>
            <a:ext cx="31363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 URL ∈ S ∪ F ∪ L 吗？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——能解释 URL 从哪里来。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3154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09560" y="3154680"/>
            <a:ext cx="73152" cy="18745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3319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仍然回答不了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3721608"/>
            <a:ext cx="31363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支持段落真的交付了吗？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引用是否就地绑定 claim？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页面是否语义支持？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来源角色是否适合该推断？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1828800" y="5358384"/>
            <a:ext cx="5760720" cy="585216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0" y="54955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可解释  ≠  引用支持  ≠  证据完成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current method §10.3–10.4; S/F/L terminology normalized in DRA v3.2 §7.3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FAILURE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问题一：Fact 检查得很确定，但测到的不是“研究完成度”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1389888"/>
            <a:ext cx="3657600" cy="42245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89888"/>
            <a:ext cx="73152" cy="42245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54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实际检查什么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1956816"/>
            <a:ext cx="327355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识别商品实体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抽取价格或 overall rating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 ±40 字符窗口绑定实体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对照商城 DB truth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检查同句商品 citation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计算 precision × recall volume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53712" y="1389888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389888"/>
            <a:ext cx="73152" cy="42245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5544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它的确定性优势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2312" y="1956816"/>
            <a:ext cx="240487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数值可复现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型号绑定可审计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相似变体不共享事实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可作为具体 check 的 verifier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525512" y="1389888"/>
            <a:ext cx="3950208" cy="4224528"/>
          </a:xfrm>
          <a:prstGeom prst="roundRect">
            <a:avLst>
              <a:gd name="adj" fmla="val 1852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25512" y="1389888"/>
            <a:ext cx="73152" cy="422452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54112" y="1554480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为什么固定 0.39 不合理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54112" y="1956816"/>
            <a:ext cx="35661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很多题没有足够可比数值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技术机制、耐久、冲突与取舍没有进入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“无可检查 claim”直接为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写对外围价格可能掩盖核心研究缺失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字段多的题天然获得更多奖励机会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5879592"/>
            <a:ext cx="8823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裁决：保留 deterministic parser，但把它下沉为 research check 的执行器。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current method §10.6; DRA v3.2 §2.3, §9.1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FAILURE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问题二：抓取过页面，不等于模型看到了支持内容，更不等于正确使用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21792" y="182880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28800"/>
            <a:ext cx="73152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933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200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16093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服务器返回页面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2615184" y="2916936"/>
            <a:ext cx="2651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73152" cy="22402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9933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fetch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154680" y="2395728"/>
            <a:ext cx="16093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工具获得原始正文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919472" y="2916936"/>
            <a:ext cx="2651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30368" y="182880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1828800"/>
            <a:ext cx="73152" cy="2240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19933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Delivered artifact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458968" y="2395728"/>
            <a:ext cx="16093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经过解析/分块/摘要后交付模型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223760" y="2916936"/>
            <a:ext cx="2651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34656" y="182880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828800"/>
            <a:ext cx="73152" cy="22402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19933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use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763256" y="2395728"/>
            <a:ext cx="16093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claim 与引用就地绑定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528048" y="2916936"/>
            <a:ext cx="2651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38944" y="182880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38944" y="1828800"/>
            <a:ext cx="73152" cy="2240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67544" y="19933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support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0067544" y="2395728"/>
            <a:ext cx="16093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span 支持且来源角色适合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786384" y="4572000"/>
            <a:ext cx="3611880" cy="0"/>
          </a:xfrm>
          <a:prstGeom prst="line">
            <a:avLst/>
          </a:prstGeom>
          <a:noFill/>
          <a:ln w="508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ProofOfFetch 大致停在这里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239512" y="4572000"/>
            <a:ext cx="5687568" cy="0"/>
          </a:xfrm>
          <a:prstGeom prst="line">
            <a:avLst/>
          </a:prstGeom>
          <a:noFill/>
          <a:ln w="508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4681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真正需要证据门覆盖的区间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920240" y="5285232"/>
            <a:ext cx="8366760" cy="685800"/>
          </a:xfrm>
          <a:prstGeom prst="roundRect">
            <a:avLst>
              <a:gd name="adj" fmla="val 10667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5285232"/>
            <a:ext cx="73152" cy="6858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5385816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根本问题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148840" y="5641848"/>
            <a:ext cx="7982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PoF 作为独立加分项，会奖励“抓了但没用”；而“写对了但没看证据”又可能被其他质量项补回来。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current method §10.4–10.5; DRA v3.2 §2.4, §7.2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FAILURE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问题三：Completeness 容易把“答案键覆盖”变成“复现出题者路线”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868680" y="1444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出题时用过的页面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" y="1901952"/>
            <a:ext cx="2423160" cy="2971800"/>
          </a:xfrm>
          <a:prstGeom prst="roundRect">
            <a:avLst/>
          </a:prstGeom>
          <a:solidFill>
            <a:srgbClr val="FDEBF0"/>
          </a:solidFill>
          <a:ln w="20320">
            <a:solidFill>
              <a:srgbClr val="EF47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24028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286000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商品页 A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1188720" y="2816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862072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概念页 B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1188720" y="3392424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438144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论坛页 C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1188720" y="3968496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014216"/>
            <a:ext cx="14813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预选推荐 D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3246120" y="3310128"/>
            <a:ext cx="1325880" cy="0"/>
          </a:xfrm>
          <a:prstGeom prst="line">
            <a:avLst/>
          </a:prstGeom>
          <a:noFill/>
          <a:ln w="38100">
            <a:solidFill>
              <a:srgbClr val="EF476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81728" y="1828800"/>
            <a:ext cx="2788920" cy="312724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828800"/>
            <a:ext cx="73152" cy="31272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93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旧答案键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0328" y="2395728"/>
            <a:ext cx="240487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14–17 个 vital slots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虚拟论坛 slot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concept nuggets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structured nuggets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覆盖越多，Completeness 越高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543800" y="3310128"/>
            <a:ext cx="987552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41080" y="1664208"/>
            <a:ext cx="2834640" cy="1298448"/>
          </a:xfrm>
          <a:prstGeom prst="roundRect">
            <a:avLst>
              <a:gd name="adj" fmla="val 5634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41080" y="1664208"/>
            <a:ext cx="73152" cy="12984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1828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测到了什么？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0" y="2231136"/>
            <a:ext cx="2450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是否命中了我们预先保存的内容与 URL 路线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641080" y="3310128"/>
            <a:ext cx="2834640" cy="1664208"/>
          </a:xfrm>
          <a:prstGeom prst="roundRect">
            <a:avLst>
              <a:gd name="adj" fmla="val 4396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41080" y="3310128"/>
            <a:ext cx="73152" cy="16642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34747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真正想测什么？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9680" y="3877056"/>
            <a:ext cx="24505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是否用任何真实、充分、角色合适的证据完成同一研究要求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2011680" y="5349240"/>
            <a:ext cx="8183880" cy="62179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94560" y="54864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Known witness 只应证明“可答”  ·  不应成为 URL allowlist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current method §10.7; DRA route-flexible pilot; DRA v3.2 §2.5, §4.5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FAILURE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问题四：报告级乘法把局部证据错误“平均掉”，任意权重又难以解释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60120" y="1325880"/>
            <a:ext cx="10287000" cy="71323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4630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Truth_old = Provenance × (0.39F + 0.28PoF + 0.33C)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2450592"/>
            <a:ext cx="52303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450592"/>
            <a:ext cx="73152" cy="12618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61518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关键推荐无证据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只让整体 provenance 小幅下降；其余段落仍可能把总分拉高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6272784" y="2450592"/>
            <a:ext cx="52303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2450592"/>
            <a:ext cx="73152" cy="126187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61518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抓了很多无关页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01384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PoF 仍可能得分，却没有完成任何研究要求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713232" y="4005072"/>
            <a:ext cx="52303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005072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16966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文风与引用光环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judge 或 completeness 已奖励“像报告”，再乘 grounding 可能重复计分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272784" y="4005072"/>
            <a:ext cx="52303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4005072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416966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 / 指数敏感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01384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0.39/0.28/0.33 与 ^1.5 不能从构念自然推导，换参数可能翻榜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1234440" y="56692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证据门应该放在每个可验证研究要求内部，而不是整篇报告末尾。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§2.6–2.7; literature review found no report-level product precedent among surveyed DR benchmarks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EMPIRICAL MOTIVATION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 pilot 暴露了问题：0 分不等于“完全没做”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同一份音频购买报告，用三种视角得到完全不同的诊断。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86384" y="15727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旧固定路线评分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591056"/>
            <a:ext cx="5852160" cy="384048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0" y="156362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7157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内容完成度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734056"/>
            <a:ext cx="5852160" cy="384048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734056"/>
            <a:ext cx="3251200" cy="384048"/>
          </a:xfrm>
          <a:prstGeom prst="round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270662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  ·  55.6%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38587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有证据完成度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3877056"/>
            <a:ext cx="5852160" cy="384048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877056"/>
            <a:ext cx="650240" cy="384048"/>
          </a:xfrm>
          <a:prstGeom prst="round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84962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9  ·  11.1%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4956048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956048"/>
            <a:ext cx="73152" cy="9601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50566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报告确实做了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" y="53126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设计、IPX7、电池、Hi-Res 等 5 个必要方向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52544" y="4956048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4956048"/>
            <a:ext cx="73152" cy="9601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50566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但证据很弱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81144" y="53126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Ortizan 商品页同时满足内容、引用、观察与支持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955280" y="4956048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956048"/>
            <a:ext cx="73152" cy="9601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50566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核心诊断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83880" y="53126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0/15 同时混入“没走预设路线”和“证据不足”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Route-flexible pilot: dra_v3_dev_audio_0002; old fixed route 0/15, content 5/9, grounded 1/9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DESIGN REQUIREMENTS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替代方案必须同时满足八个约束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不是“加一个更强 judge”就能解决。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389888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89888"/>
            <a:ext cx="73152" cy="17556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544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自动化高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95528" y="1956816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不为每题从零写复杂答案 rubric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474720" y="1389888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389888"/>
            <a:ext cx="73152" cy="17556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5544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703320" y="1956816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world / compiler / matcher / judge / scorer 版本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382512" y="1389888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389888"/>
            <a:ext cx="73152" cy="17556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5544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同一程序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611112" y="1956816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harness 使用同一语义，不按工具名特判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290304" y="1389888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0304" y="1389888"/>
            <a:ext cx="73152" cy="1755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8904" y="15544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证据可审计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518904" y="1956816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URL、交付 span、绑定、支持、来源角色可下钻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66928" y="3474720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74720"/>
            <a:ext cx="73152" cy="17556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6393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广度有分母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795528" y="40416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query facets 编译，不用 URL 数或篇幅代替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3474720" y="3474720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474720"/>
            <a:ext cx="73152" cy="17556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6393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不绑路线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3703320" y="40416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新在册证据满足合同即可通过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382512" y="3474720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3474720"/>
            <a:ext cx="73152" cy="17556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6393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排名简单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6611112" y="40416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一个主分能一句话解释，不重新发明复合指数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290304" y="3474720"/>
            <a:ext cx="267004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90304" y="3474720"/>
            <a:ext cx="73152" cy="17556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18904" y="36393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边界诚实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9518904" y="40416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不声称穷尽全部语义或覆盖未来所有策略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1188720" y="5669280"/>
            <a:ext cx="9829800" cy="57607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371600" y="5806440"/>
            <a:ext cx="9464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目标：测“有证据地覆盖了多少必要研究工作”，并把 URL 造假独立、强制地暴露出来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§1, §17.1; user-locked design principles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68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真正应该怎样评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Deep Research 拆成发现 → 观察 → 利用 → 完成；广度有分母，质量有独立面板。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sandbox-native scoring redesign · 2026-07-18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EVALUATION OBJECT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一条研究结论要经过四个阶段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64208"/>
            <a:ext cx="73152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Discover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21305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搜索暴露相关 URL 或从链接进入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1024128" y="409651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414223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SearchExposed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182112" y="325526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11296" y="166420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664208"/>
            <a:ext cx="73152" cy="3200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828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 Observe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3739896" y="2231136"/>
            <a:ext cx="21305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支持内容经过 adapter 变换后真正交付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3895344" y="409651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414223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Delivered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053328" y="325526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82512" y="166420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2512" y="1664208"/>
            <a:ext cx="73152" cy="32004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828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Use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611112" y="2231136"/>
            <a:ext cx="21305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报告就地引用、正确绑定并使用证据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6766560" y="409651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14223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 &amp; Supported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924544" y="325526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53728" y="1664208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728" y="1664208"/>
            <a:ext cx="73152" cy="3200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1828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Complete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9482328" y="2231136"/>
            <a:ext cx="21305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query 要求的比较、解释或建议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9637776" y="409651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83496" y="414223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Check Pass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601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过程诊断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" y="5596128"/>
            <a:ext cx="5285232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2578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正式主分：完成 + 每个外部前提通过证据门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5596128"/>
            <a:ext cx="5193792" cy="0"/>
          </a:xfrm>
          <a:prstGeom prst="line">
            <a:avLst/>
          </a:prstGeom>
          <a:noFill/>
          <a:ln w="38100">
            <a:solidFill>
              <a:srgbClr val="06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§1, §11 — Search → delivery → utilization → verified pass funnel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BREADTH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Research 的“广度”必须由 query 定义分母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2926080" cy="4389120"/>
          </a:xfrm>
          <a:prstGeom prst="roundRect">
            <a:avLst>
              <a:gd name="adj" fmla="val 2500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25880"/>
            <a:ext cx="73152" cy="43891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错误的广度代理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892808"/>
            <a:ext cx="254203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访问 URL 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搜索次数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引用数量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报告字数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事实原子数量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这些都能被重复页、无关页、冗长写作或字段密度刷高。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3474720"/>
            <a:ext cx="82296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36592" y="1325880"/>
            <a:ext cx="6784848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325880"/>
            <a:ext cx="73152" cy="4389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90472"/>
            <a:ext cx="6419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正确的分母：query facets → research units → checks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2743200" cy="12527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技术与营销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识别主张 · 解释机制 · 说明不能推出什么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65592" y="1874520"/>
            <a:ext cx="2743200" cy="1252728"/>
          </a:xfrm>
          <a:prstGeom prst="roundRect">
            <a:avLst/>
          </a:prstGeom>
          <a:solidFill>
            <a:srgbClr val="E6FBF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噪声/预算/空间约束 · 条件差异 · 风险边界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074920" y="3447288"/>
            <a:ext cx="2743200" cy="12527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共同维度 · 跨页对齐 · 冲突处理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165592" y="3447288"/>
            <a:ext cx="2743200" cy="1252728"/>
          </a:xfrm>
          <a:prstGeom prst="roundRect">
            <a:avLst/>
          </a:prstGeom>
          <a:solidFill>
            <a:srgbClr val="E6FBF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推荐与行动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02752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多个可行方案 · 取舍理由 · 可执行建议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828800" y="5870448"/>
            <a:ext cx="8549640" cy="4572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11680" y="600760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 = 在平级用户研究方向上，完成了多少可执行检查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§6.7–6.8, §15.1; WideSearch supplies the “explicit denominator” lesson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HIERARCHY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评分对象的层级：事实是证据，研究工作才是一分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0" y="1691640"/>
            <a:ext cx="7315200" cy="713232"/>
          </a:xfrm>
          <a:prstGeom prst="roundRect">
            <a:avLst/>
          </a:prstGeom>
          <a:solidFill>
            <a:srgbClr val="2563EB">
              <a:alpha val="93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41648" y="18470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atom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669280" y="1828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网页里一个规格、主张、机制说明或用户经验事件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2624328"/>
            <a:ext cx="6492240" cy="713232"/>
          </a:xfrm>
          <a:prstGeom prst="roundRect">
            <a:avLst/>
          </a:prstGeom>
          <a:solidFill>
            <a:srgbClr val="2EC4B6">
              <a:alpha val="89000"/>
            </a:srgbClr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27797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check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583680" y="27614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对报告局部能力的可执行检查；内容合同 + 证据合同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3557016"/>
            <a:ext cx="5669280" cy="713232"/>
          </a:xfrm>
          <a:prstGeom prst="roundRect">
            <a:avLst/>
          </a:prstGeom>
          <a:solidFill>
            <a:srgbClr val="FF9F1C">
              <a:alpha val="85000"/>
            </a:srgbClr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37124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unit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315200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用户可感知的一项完整调研工作：比较、审核、教程、推荐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4489704"/>
            <a:ext cx="4846320" cy="713232"/>
          </a:xfrm>
          <a:prstGeom prst="roundRect">
            <a:avLst/>
          </a:prstGeom>
          <a:solidFill>
            <a:srgbClr val="7C3AED">
              <a:alpha val="81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facet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846320" y="46268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平衡用户的多个研究方向，防止事实数量决定权重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1444752"/>
            <a:ext cx="2743200" cy="44074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1444752"/>
            <a:ext cx="73152" cy="44074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16093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例：审核“Hi-Res 蓝牙”宣传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" y="2011680"/>
            <a:ext cx="235915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Atom：商品页是否写 Hi-Res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Checks：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准确转述主张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用机制/条件解释能推出什么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说明不能推出什么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连接到用户决策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Unit：完成一次技术宣传审核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Facet：技术与营销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§1, §4.7, §9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LINK INTEGRITY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链接真实性没有被取消：先分清“虚构”、“越界”与“基准错误”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03120" cy="84124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344168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失败类型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2606040" y="1298448"/>
            <a:ext cx="2926080" cy="84124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192" y="1344168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532120" y="1298448"/>
            <a:ext cx="2880360" cy="84124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5272" y="134416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412480" y="1298448"/>
            <a:ext cx="3246120" cy="84124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1344168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主分处理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21031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185416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nonexistent_fabrication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606040" y="2139696"/>
            <a:ext cx="29260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2185416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在 canonicalize / alias / redirect 盲复核后确认不存在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532120" y="2139696"/>
            <a:ext cx="28803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218541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真正的虚构引用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412480" y="2139696"/>
            <a:ext cx="32461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185416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check 失败；整道 task 清零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02920" y="2980944"/>
            <a:ext cx="210312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26664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off_world_citation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606040" y="2980944"/>
            <a:ext cx="292608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3026664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真实，但不属于冻结 registry / snapshot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532120" y="2980944"/>
            <a:ext cx="288036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302666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越出评测世界，不能据此证明本次调研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412480" y="2980944"/>
            <a:ext cx="324612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026664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引用无资格；check 失败；独立 protocol flag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02920" y="3822192"/>
            <a:ext cx="21031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867912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canonicalization_or_registry_error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606040" y="3822192"/>
            <a:ext cx="29260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867912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真实且应在世界内，但 alias / redirect / registry 漏记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532120" y="3822192"/>
            <a:ext cx="28803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38679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仪器错误，不是 harness 造假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412480" y="3822192"/>
            <a:ext cx="32461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3867912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暂停裁决；修复后全体同 epoch 重算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02920" y="4663440"/>
            <a:ext cx="210312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709160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malformed_citation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606040" y="4663440"/>
            <a:ext cx="292608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9192" y="4709160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引用格式或拼写有误，但可唯一恢复目标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532120" y="4663440"/>
            <a:ext cx="288036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5272" y="470916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 / 格式违约，不自动等同虚构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412480" y="4663440"/>
            <a:ext cx="3246120" cy="84124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4709160"/>
            <a:ext cx="3099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按公开 canonicalization 规则裁决；记独立 flag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14400" y="577900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membership 可以判“是否属于冻结世界”，但不能单独判“现实互联网上是否存在”。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proposed integrity taxonomy; v3.2 terminology refined for the presentation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EVIDENCE-USE FAILURES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真实也不够：证据必须本次交付、就地绑定并真的支持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05740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344168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失败类型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2560320" y="1298448"/>
            <a:ext cx="306324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134416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623560" y="1298448"/>
            <a:ext cx="333756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6712" y="1344168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961120" y="1298448"/>
            <a:ext cx="2788920" cy="713232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34272" y="1344168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20574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57400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unobserved_citation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2560320" y="2011680"/>
            <a:ext cx="3063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057400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存在，但支持 span 本次未交付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623560" y="2011680"/>
            <a:ext cx="33375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2057400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可能靠参数知识或事后补引用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8961120" y="2011680"/>
            <a:ext cx="27889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2057400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check 失败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02920" y="2724912"/>
            <a:ext cx="205740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770632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unsupported_citation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2560320" y="2724912"/>
            <a:ext cx="306324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770632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页面已交付，但不支持附近说法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623560" y="2724912"/>
            <a:ext cx="333756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2770632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主题相关不等于证据支持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8961120" y="2724912"/>
            <a:ext cx="27889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770632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check 失败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502920" y="3438144"/>
            <a:ext cx="20574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483864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wrong_binding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2560320" y="3438144"/>
            <a:ext cx="3063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483864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页面可能支持，但引用没有绑定对应 claim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623560" y="3438144"/>
            <a:ext cx="33375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3483864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读者无法知道引用支撑哪句话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8961120" y="3438144"/>
            <a:ext cx="27889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34272" y="3483864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check 失败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502920" y="4151376"/>
            <a:ext cx="205740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97096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contradicted_citation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2560320" y="4151376"/>
            <a:ext cx="306324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4197096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页面实际反驳报告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5623560" y="4151376"/>
            <a:ext cx="333756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6712" y="4197096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方向性事实错误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8961120" y="4151376"/>
            <a:ext cx="2788920" cy="713232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34272" y="4197096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失败；决定性结论记 critical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502920" y="4864608"/>
            <a:ext cx="20574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910328"/>
            <a:ext cx="191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source_role_misuse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2560320" y="4864608"/>
            <a:ext cx="3063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491032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来源角色不满足合同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5623560" y="4864608"/>
            <a:ext cx="33375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96712" y="4910328"/>
            <a:ext cx="3191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营销主张被冒充独立测量等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8961120" y="4864608"/>
            <a:ext cx="27889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4272" y="4910328"/>
            <a:ext cx="2642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check 失败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868680" y="5577840"/>
            <a:ext cx="5047488" cy="667512"/>
          </a:xfrm>
          <a:prstGeom prst="roundRect">
            <a:avLst>
              <a:gd name="adj" fmla="val 10959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8680" y="5577840"/>
            <a:ext cx="73152" cy="66751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7280" y="5678424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不一票否决整题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97280" y="59344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这些默认只使对应 check 失败；决定性反驳另记 critical error。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6263640" y="5577840"/>
            <a:ext cx="5047488" cy="667512"/>
          </a:xfrm>
          <a:prstGeom prst="roundRect">
            <a:avLst>
              <a:gd name="adj" fmla="val 10959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3640" y="5577840"/>
            <a:ext cx="73152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5678424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可下钻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92240" y="59344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verdict 必须指向 report span、evidence span、delivery record 和合同前提。</a:t>
            </a:r>
            <a:endParaRPr lang="en-US" sz="890" dirty="0"/>
          </a:p>
        </p:txBody>
      </p:sp>
      <p:sp>
        <p:nvSpPr>
          <p:cNvPr id="60" name="Shape 5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Evidence-use diagnostics: observation · support · binding · contradiction · source role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LONG-FORM QUALITY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报告质量要评，但不能再乘回主分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“有没有完成”由 Research Test Suite 判断；“完成得怎样”由独立质量面板判断。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1572768"/>
            <a:ext cx="2542032" cy="29718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572768"/>
            <a:ext cx="73152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23544" y="2139696"/>
            <a:ext cx="21579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多份证据是否组织成连贯比较、机制或因果链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1463040" y="3913632"/>
            <a:ext cx="1005840" cy="25603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572768"/>
            <a:ext cx="2542032" cy="29718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1572768"/>
            <a:ext cx="73152" cy="2971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Uncertainty &amp; Conflict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39896" y="2139696"/>
            <a:ext cx="21579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是否诚实表达条件、冲突、证据强弱与未知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279392" y="3913632"/>
            <a:ext cx="1005840" cy="256032"/>
          </a:xfrm>
          <a:prstGeom prst="ellipse">
            <a:avLst/>
          </a:prstGeom>
          <a:solidFill>
            <a:srgbClr val="2EC4B6">
              <a:alpha val="8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572768"/>
            <a:ext cx="2542032" cy="29718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572768"/>
            <a:ext cx="73152" cy="29718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/ User Utility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56248" y="2139696"/>
            <a:ext cx="21579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是否回应预算、场景、风险、步骤与取舍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095744" y="3913632"/>
            <a:ext cx="1005840" cy="256032"/>
          </a:xfrm>
          <a:prstGeom prst="ellipse">
            <a:avLst/>
          </a:prstGeom>
          <a:solidFill>
            <a:srgbClr val="FF9F1C">
              <a:alpha val="8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572768"/>
            <a:ext cx="2542032" cy="29718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572768"/>
            <a:ext cx="73152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72600" y="2139696"/>
            <a:ext cx="21579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结构、连贯、简洁、可读、引用呈现自然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912096" y="3913632"/>
            <a:ext cx="1005840" cy="256032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4983480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4983480"/>
            <a:ext cx="73152" cy="9326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50840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80160" y="534009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同题、同轴、匿名两两比较；位置交换；固定 anchor reports；遮蔽 harness 与 DRA-GRC。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6355080" y="4983480"/>
            <a:ext cx="4754880" cy="932688"/>
          </a:xfrm>
          <a:prstGeom prst="roundRect">
            <a:avLst>
              <a:gd name="adj" fmla="val 7843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983480"/>
            <a:ext cx="73152" cy="9326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0840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榜单角色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534009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单独展示四轴与人工校准；不合成 Overall，不用成本或质量面板偷偷破同分。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§16; ALCE separates fluency/correctness/citation quality (arXiv:2305.14627)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68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 LoHoSearch：全量世界如何真正被利用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详细拆解：全图轻量建模、局部子图采样、自然语言化、唯一性检查、难度过滤与人工审核。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sandbox-native scoring redesign · 2026-07-18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MEITUAN LOHOSEARCH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一页概览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这是一套长时程 Search Agent 基准，不是长篇 Deep Research 报告基准。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335024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35024"/>
            <a:ext cx="73152" cy="44805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99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1901952"/>
            <a:ext cx="3364992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LoHoSearch: Benchmarking Long-Horizon Search Agents Beyond the Human Difficulty Ceiling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美团团队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2026-06-11 提交；v2 2026-06-17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目标：用全局图统计系统性提高单题搜索空间和结构复杂度。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773168" y="15727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7.62M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73168" y="213969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Wikipedia 实体节点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39712" y="15727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265M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39712" y="213969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正文有向超链接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15400" y="157276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915400" y="21396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人工复核问题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87000" y="157276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287000" y="213969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主题领域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73168" y="31729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34.74%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73168" y="37398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最强系统准确率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86600" y="31729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86600" y="37398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正确轨迹平均工具调用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89720" y="31729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89720" y="3739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DeepSeek-V4-Flash 上下文实验绝对增益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4709160"/>
            <a:ext cx="6675120" cy="1078992"/>
          </a:xfrm>
          <a:prstGeom prst="roundRect">
            <a:avLst>
              <a:gd name="adj" fmla="val 6780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4709160"/>
            <a:ext cx="73152" cy="10789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80974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DRA 最重要的启发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5065776"/>
            <a:ext cx="62910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“全量”只做便宜、稳定、可复现的结构；昂贵语义生成、验证和人工审核只发生在采样局部。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LoHoSearch, arXiv:2606.12837v2, Abstract &amp; §1–§3 · https://arxiv.org/abs/2606.12837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MOTIVATION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的出发点：作者将快速饱和归因于人工缺少全局统计视角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772668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7160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BrowseComp 在十个月内快速饱和</a:t>
            </a:r>
            <a:endParaRPr lang="en-US" sz="1500" dirty="0"/>
          </a:p>
        </p:txBody>
      </p:sp>
      <p:pic>
        <p:nvPicPr>
          <p:cNvPr id="6" name="Image 0" descr="/root/Desktop/lyb/dra-world-index-scoring/docs/presentations/assets/papers/lohosearch-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36" y="1572768"/>
            <a:ext cx="6664864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230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Figure 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522208" y="1207008"/>
            <a:ext cx="3090672" cy="1901952"/>
          </a:xfrm>
          <a:prstGeom prst="roundRect">
            <a:avLst>
              <a:gd name="adj" fmla="val 3846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22208" y="1207008"/>
            <a:ext cx="73152" cy="19019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137160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原因：人没有全局统计视角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50808" y="1773936"/>
            <a:ext cx="2706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人工更容易选择熟悉、流行、直接相连的实体；约束数量和候选空间难以系统控制。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22208" y="3364992"/>
            <a:ext cx="3090672" cy="2249424"/>
          </a:xfrm>
          <a:prstGeom prst="roundRect">
            <a:avLst>
              <a:gd name="adj" fmla="val 3252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22208" y="3364992"/>
            <a:ext cx="73152" cy="224942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50808" y="352958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两条难度轴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50808" y="3931920"/>
            <a:ext cx="27066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单个约束的搜索空间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候选越多，验证与排除越长。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结构复杂度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多个约束必须联合满足，图中循环与交叉约束难以分解。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LoHoSearch Figure 1 and §1, arXiv:2606.12837v2 (CC BY 4.0)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PIPELINE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的完整数据构建流水线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四阶段：知识图谱构建 → 子图采样 → QA 生成与验证 → 后过滤与人工审核。</a:t>
            </a:r>
            <a:endParaRPr lang="en-US" sz="1050" dirty="0"/>
          </a:p>
        </p:txBody>
      </p:sp>
      <p:pic>
        <p:nvPicPr>
          <p:cNvPr id="5" name="Image 0" descr="/root/Desktop/lyb/dra-world-index-scoring/docs/presentations/assets/papers/lohosearch-figure-2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346" y="1170432"/>
            <a:ext cx="8465404" cy="5010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LoHoSearch Figure 2, arXiv:2606.12837v2, p.3 (CC BY 4.0)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STAGE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阶段一：全量遍历 Wikipedia，但只构建廉价结构图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" y="1965960"/>
            <a:ext cx="1417320" cy="1417320"/>
          </a:xfrm>
          <a:prstGeom prst="ellipse">
            <a:avLst/>
          </a:prstGeom>
          <a:solidFill>
            <a:srgbClr val="EAF2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4414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2670048"/>
            <a:ext cx="777240" cy="-868680"/>
          </a:xfrm>
          <a:prstGeom prst="line">
            <a:avLst/>
          </a:prstGeom>
          <a:noFill/>
          <a:ln w="21590">
            <a:solidFill>
              <a:srgbClr val="2EC4B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138988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389888"/>
            <a:ext cx="73152" cy="8412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90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Body hyperlink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194560" y="2670048"/>
            <a:ext cx="777240" cy="320040"/>
          </a:xfrm>
          <a:prstGeom prst="line">
            <a:avLst/>
          </a:prstGeom>
          <a:noFill/>
          <a:ln w="2159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08960" y="257860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578608"/>
            <a:ext cx="73152" cy="8412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6791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 P31 type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94560" y="2670048"/>
            <a:ext cx="777240" cy="1508760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08960" y="376732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767328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8679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In-degree popularity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08192" y="1298448"/>
            <a:ext cx="5285232" cy="4434840"/>
          </a:xfrm>
          <a:prstGeom prst="roundRect">
            <a:avLst>
              <a:gd name="adj" fmla="val 1649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1298448"/>
            <a:ext cx="73152" cy="44348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46304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这一步没有做什么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215798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057400"/>
            <a:ext cx="43708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没有让 LLM 为 762 万页面抽取“全部事实”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6446520" y="2793492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2692908"/>
            <a:ext cx="43708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没有在全库生成自然语言关系描述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446520" y="3429000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328416"/>
            <a:ext cx="43708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没有在全库尝试每种问题或答案路线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446520" y="4064508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3963924"/>
            <a:ext cx="437083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没有以图谱为现实世界完整真理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720840" y="4956048"/>
            <a:ext cx="4023360" cy="53035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03720" y="5093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全量成本 ≈ 解析 + 链接 + 类型 + 统计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10235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7.62M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14400" y="5669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0" y="510235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265M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743200" y="56692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directed edges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§2.1, arXiv:2606.12837v2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STAGE 2 · TREE SAMPLING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A：树结构用“交集唯一 + 删除不唯一”保证约束必要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999232" y="1673352"/>
            <a:ext cx="-1325880" cy="1143000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99232" y="1673352"/>
            <a:ext cx="0" cy="1143000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99232" y="1673352"/>
            <a:ext cx="1325880" cy="1143000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73352" y="2816352"/>
            <a:ext cx="-365760" cy="1207008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73352" y="2816352"/>
            <a:ext cx="365760" cy="1207008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99232" y="2816352"/>
            <a:ext cx="-182880" cy="1207008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25112" y="2816352"/>
            <a:ext cx="-365760" cy="1207008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25112" y="2816352"/>
            <a:ext cx="365760" cy="1207008"/>
          </a:xfrm>
          <a:prstGeom prst="line">
            <a:avLst/>
          </a:prstGeom>
          <a:noFill/>
          <a:ln w="12700">
            <a:solidFill>
              <a:srgbClr val="8FA0B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43200" y="1417320"/>
            <a:ext cx="530352" cy="530352"/>
          </a:xfrm>
          <a:prstGeom prst="ellipse">
            <a:avLst/>
          </a:prstGeom>
          <a:solidFill>
            <a:srgbClr val="1C2541"/>
          </a:solidFill>
          <a:ln w="17780">
            <a:solidFill>
              <a:srgbClr val="1C2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15453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417320" y="2560320"/>
            <a:ext cx="530352" cy="530352"/>
          </a:xfrm>
          <a:prstGeom prst="ellipse">
            <a:avLst/>
          </a:prstGeom>
          <a:solidFill>
            <a:srgbClr val="2563EB">
              <a:alpha val="25000"/>
            </a:srgbClr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26883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E₁₁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0" y="2560320"/>
            <a:ext cx="530352" cy="530352"/>
          </a:xfrm>
          <a:prstGeom prst="ellipse">
            <a:avLst/>
          </a:prstGeom>
          <a:solidFill>
            <a:srgbClr val="2563EB">
              <a:alpha val="25000"/>
            </a:srgbClr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26883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E₁₂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69080" y="2560320"/>
            <a:ext cx="530352" cy="530352"/>
          </a:xfrm>
          <a:prstGeom prst="ellipse">
            <a:avLst/>
          </a:prstGeom>
          <a:solidFill>
            <a:srgbClr val="2563EB">
              <a:alpha val="25000"/>
            </a:srgbClr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6512" y="268833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E₁₃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" y="3767328"/>
            <a:ext cx="530352" cy="530352"/>
          </a:xfrm>
          <a:prstGeom prst="ellipse">
            <a:avLst/>
          </a:prstGeom>
          <a:solidFill>
            <a:srgbClr val="06D6A0">
              <a:alpha val="25000"/>
            </a:srgbClr>
          </a:solidFill>
          <a:ln w="1778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8953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83080" y="3767328"/>
            <a:ext cx="530352" cy="530352"/>
          </a:xfrm>
          <a:prstGeom prst="ellipse">
            <a:avLst/>
          </a:prstGeom>
          <a:solidFill>
            <a:srgbClr val="06D6A0">
              <a:alpha val="25000"/>
            </a:srgbClr>
          </a:solidFill>
          <a:ln w="1778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0512" y="38953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0" y="3767328"/>
            <a:ext cx="530352" cy="530352"/>
          </a:xfrm>
          <a:prstGeom prst="ellipse">
            <a:avLst/>
          </a:prstGeom>
          <a:solidFill>
            <a:srgbClr val="FF9F1C">
              <a:alpha val="25000"/>
            </a:srgbClr>
          </a:solidFill>
          <a:ln w="17780">
            <a:solidFill>
              <a:srgbClr val="FF9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38953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E₂₃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03320" y="3767328"/>
            <a:ext cx="530352" cy="530352"/>
          </a:xfrm>
          <a:prstGeom prst="ellipse">
            <a:avLst/>
          </a:prstGeom>
          <a:solidFill>
            <a:srgbClr val="EF476F">
              <a:alpha val="25000"/>
            </a:srgbClr>
          </a:solidFill>
          <a:ln w="1778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38953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767328"/>
            <a:ext cx="530352" cy="530352"/>
          </a:xfrm>
          <a:prstGeom prst="ellipse">
            <a:avLst/>
          </a:prstGeom>
          <a:solidFill>
            <a:srgbClr val="EF476F">
              <a:alpha val="25000"/>
            </a:srgbClr>
          </a:solidFill>
          <a:ln w="1778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38953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1307592"/>
            <a:ext cx="574243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0" y="1307592"/>
            <a:ext cx="73152" cy="44348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472184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默认参数与三条约束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016752" y="1975104"/>
            <a:ext cx="91440" cy="914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874520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3 个一级关系；每个中间实体最多 M = 2 个二级关系；τ = 3</a:t>
            </a:r>
            <a:endParaRPr lang="en-US" sz="1210" dirty="0"/>
          </a:p>
        </p:txBody>
      </p:sp>
      <p:sp>
        <p:nvSpPr>
          <p:cNvPr id="35" name="Shape 33"/>
          <p:cNvSpPr/>
          <p:nvPr/>
        </p:nvSpPr>
        <p:spPr>
          <a:xfrm>
            <a:off x="6016752" y="267004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569464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每个关系的候选搜索空间 |S| &gt; τ</a:t>
            </a:r>
            <a:endParaRPr lang="en-US" sz="1210" dirty="0"/>
          </a:p>
        </p:txBody>
      </p:sp>
      <p:sp>
        <p:nvSpPr>
          <p:cNvPr id="37" name="Shape 35"/>
          <p:cNvSpPr/>
          <p:nvPr/>
        </p:nvSpPr>
        <p:spPr>
          <a:xfrm>
            <a:off x="6016752" y="3364992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264408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任意删除一个一级关系，剩余候选交集仍 &gt; 1 —— 每条关系都必要</a:t>
            </a:r>
            <a:endParaRPr lang="en-US" sz="1210" dirty="0"/>
          </a:p>
        </p:txBody>
      </p:sp>
      <p:sp>
        <p:nvSpPr>
          <p:cNvPr id="39" name="Shape 37"/>
          <p:cNvSpPr/>
          <p:nvPr/>
        </p:nvSpPr>
        <p:spPr>
          <a:xfrm>
            <a:off x="6016752" y="405993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959352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N 个关系的候选交集恰为 {root} —— 图内答案唯一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6016752" y="475488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654296"/>
            <a:ext cx="4736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 pseudo-candidate 不能与其他中间实体组合出另一个唯一答案</a:t>
            </a:r>
            <a:endParaRPr lang="en-US" sz="1210" dirty="0"/>
          </a:p>
        </p:txBody>
      </p:sp>
      <p:sp>
        <p:nvSpPr>
          <p:cNvPr id="43" name="Shape 41"/>
          <p:cNvSpPr/>
          <p:nvPr/>
        </p:nvSpPr>
        <p:spPr>
          <a:xfrm>
            <a:off x="987552" y="4983480"/>
            <a:ext cx="3977640" cy="694944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170432" y="51206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∩₁ᴺ Sᵢ = {root}     但     ∩_{j≠i} Sⱼ &gt; 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§2.2.1, arXiv:2606.12837v2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STAGE 2 · GRAPH SAMPLING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B：图结构用循环与交叉约束提高不可分解性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67712" y="1828800"/>
            <a:ext cx="-1143000" cy="941832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7712" y="1828800"/>
            <a:ext cx="1325880" cy="941832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1828800"/>
            <a:ext cx="-960120" cy="2249424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7712" y="1828800"/>
            <a:ext cx="228600" cy="2615184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67712" y="1828800"/>
            <a:ext cx="1417320" cy="219456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770632"/>
            <a:ext cx="182880" cy="1307592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" y="2770632"/>
            <a:ext cx="1371600" cy="1673352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2770632"/>
            <a:ext cx="91440" cy="1252728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4078224"/>
            <a:ext cx="1188720" cy="36576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4443984"/>
            <a:ext cx="1188720" cy="-420624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4712" y="2770632"/>
            <a:ext cx="2560320" cy="1252728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572768"/>
            <a:ext cx="566928" cy="566928"/>
          </a:xfrm>
          <a:prstGeom prst="ellipse">
            <a:avLst/>
          </a:prstGeom>
          <a:solidFill>
            <a:srgbClr val="2563EB">
              <a:alpha val="30000"/>
            </a:srgbClr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7190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FF9F1C">
              <a:alpha val="30000"/>
            </a:srgbClr>
          </a:solidFill>
          <a:ln w="2032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66090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7560" y="2514600"/>
            <a:ext cx="566928" cy="566928"/>
          </a:xfrm>
          <a:prstGeom prst="ellipse">
            <a:avLst/>
          </a:prstGeom>
          <a:solidFill>
            <a:srgbClr val="64748B">
              <a:alpha val="85000"/>
            </a:srgbClr>
          </a:solidFill>
          <a:ln w="2032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266090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" y="3822192"/>
            <a:ext cx="566928" cy="566928"/>
          </a:xfrm>
          <a:prstGeom prst="ellipse">
            <a:avLst/>
          </a:prstGeom>
          <a:solidFill>
            <a:srgbClr val="EF476F">
              <a:alpha val="30000"/>
            </a:srgbClr>
          </a:solidFill>
          <a:ln w="2032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" y="39684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40280" y="4187952"/>
            <a:ext cx="566928" cy="566928"/>
          </a:xfrm>
          <a:prstGeom prst="ellipse">
            <a:avLst/>
          </a:prstGeom>
          <a:solidFill>
            <a:srgbClr val="FF9F1C">
              <a:alpha val="30000"/>
            </a:srgbClr>
          </a:solidFill>
          <a:ln w="20320">
            <a:solidFill>
              <a:srgbClr val="FF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76856" y="433425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3767328"/>
            <a:ext cx="566928" cy="566928"/>
          </a:xfrm>
          <a:prstGeom prst="ellipse">
            <a:avLst/>
          </a:prstGeom>
          <a:solidFill>
            <a:srgbClr val="06D6A0">
              <a:alpha val="30000"/>
            </a:srgbClr>
          </a:solidFill>
          <a:ln w="2032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391363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298448"/>
            <a:ext cx="2907792" cy="452628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1298448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4630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1865376"/>
            <a:ext cx="2523744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选低流行度 seed（答案）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贪心扩展到最多 10 个实体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优先与当前子图连边最多、关系搜索空间最大的候选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要求类型多样、边数充分、整体连通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28432" y="1298448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28432" y="1298448"/>
            <a:ext cx="73152" cy="4526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146304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唯一性与抗捷径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57032" y="1865376"/>
            <a:ext cx="301752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在完整图上穷举回溯，寻找满足相同类型和有向邻接的替代实体集合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找不到替代才确认图级唯一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还要求 seed 有足够同类型混淆候选，避免只靠类型枚举暴力解题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" y="526694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树：大候选空间   ·   图：大候选空间 + 循环 / 交叉约束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§2.2.2, arXiv:2606.12837v2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STAGE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阶段三：图结构不是直接交给 agent，必须转成自然、难检索的问题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417320" y="1389888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6192" y="15544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578608" cy="310896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33172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963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关系描述抽取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21945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从源实体 Wikipedia 页提取被混淆的关系描述；树叶再抽 1–2 个属性。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2112" y="3840480"/>
            <a:ext cx="24688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06824" y="1389888"/>
            <a:ext cx="713232" cy="71323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5544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83864" y="2331720"/>
            <a:ext cx="2578608" cy="310896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83864" y="2331720"/>
            <a:ext cx="73152" cy="3108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4963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关系可检索性验证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3712464" y="2898648"/>
            <a:ext cx="21945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用搜索验证描述不能被直接搜到，也不能被 LLM 轻易猜出；同一实体的多个关系联合验证。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71616" y="3840480"/>
            <a:ext cx="24688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96328" y="1389888"/>
            <a:ext cx="713232" cy="71323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5544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73368" y="2331720"/>
            <a:ext cx="2578608" cy="310896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73368" y="2331720"/>
            <a:ext cx="73152" cy="31089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4963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隐藏实体并自然语言化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6601968" y="2898648"/>
            <a:ext cx="21945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把关系和属性组装为结构化描述，隐藏实体名，再由 LLM 改写为自然问题。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61120" y="3840480"/>
            <a:ext cx="24688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85832" y="1389888"/>
            <a:ext cx="713232" cy="7132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15544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62872" y="2331720"/>
            <a:ext cx="2578608" cy="310896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62872" y="2331720"/>
            <a:ext cx="73152" cy="3108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91472" y="24963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两轮自动验证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9491472" y="2898648"/>
            <a:ext cx="21945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Subgraph coverage：无遗漏/新增/失真；Answer satisfaction：搜索 agent 确认 gold 满足条件。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99432" y="5788152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5833872"/>
            <a:ext cx="2880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LLM 步骤：DeepSeek-V3.2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§2.3, arXiv:2606.12837v2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STAGE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阶段四：自动流水线之后，仍需要多 agent 过滤与专业人工审核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81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QA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1673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2,000 original pairs（Figure 2）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2514600" y="24414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07208" y="141732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1417320"/>
            <a:ext cx="73152" cy="2057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581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唯一性过滤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035808" y="1984248"/>
            <a:ext cx="1673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多能力搜索 agent 独立尝试；找到替代有效答案即删除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864608" y="24414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7216" y="141732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57216" y="1417320"/>
            <a:ext cx="73152" cy="20574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1581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难度过滤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385816" y="1984248"/>
            <a:ext cx="1673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DeepSeek-V3.2 多次尝试；多次答对的“容易题”删除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7214616" y="24414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07224" y="141732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7224" y="141732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35824" y="1581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735824" y="1984248"/>
            <a:ext cx="1673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答案正确、唯一性、条件逻辑、语言、冗余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564624" y="24414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57232" y="141732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57232" y="1417320"/>
            <a:ext cx="73152" cy="2057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85832" y="15819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最终集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0085832" y="1984248"/>
            <a:ext cx="1673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544 道，11 个领域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822960" y="40507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75.5%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4617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进入专业人工审核的自动构造题：直接通过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40507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22.3%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429000" y="4617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进入专业审核的题：少量修改后通过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405079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3504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进入专业审核的题：严重问题被拒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77072" y="40507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70.8%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577072" y="4617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最终集唯一性审核：明确确认唯一答案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25880" y="5321808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5321808"/>
            <a:ext cx="73152" cy="7132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5422392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必须诚实报告的 29.2%</a:t>
            </a:r>
            <a:endParaRPr lang="en-US" sz="1240" dirty="0"/>
          </a:p>
        </p:txBody>
      </p:sp>
      <p:sp>
        <p:nvSpPr>
          <p:cNvPr id="39" name="Text 37"/>
          <p:cNvSpPr/>
          <p:nvPr/>
        </p:nvSpPr>
        <p:spPr>
          <a:xfrm>
            <a:off x="1554480" y="5678424"/>
            <a:ext cx="9217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人工没有找到替代答案，但也无法完全排除；“未发现替代”不是“证明唯一”。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§2.4–2.5 and Limitations, arXiv:2606.12837v2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的结果：难点不只是“多跳”，而是更长轨迹与上下文管理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9903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正确轨迹工具调用分布（论文 Figure 4）</a:t>
            </a:r>
            <a:endParaRPr lang="en-US" sz="1500" dirty="0"/>
          </a:p>
        </p:txBody>
      </p:sp>
      <p:pic>
        <p:nvPicPr>
          <p:cNvPr id="6" name="Image 0" descr="/root/Desktop/lyb/dra-world-index-scoring/docs/presentations/assets/papers/lohosearch-img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786" y="1673352"/>
            <a:ext cx="6289148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234440"/>
            <a:ext cx="3840480" cy="987552"/>
          </a:xfrm>
          <a:prstGeom prst="roundRect">
            <a:avLst>
              <a:gd name="adj" fmla="val 7407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1234440"/>
            <a:ext cx="73152" cy="9875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1335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01000" y="1591056"/>
            <a:ext cx="34564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GPT-5.5：34.74%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DeepSeek-V4-Pro：15.99%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7772400" y="2441448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2441448"/>
            <a:ext cx="73152" cy="1234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轨迹长度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01000" y="3008376"/>
            <a:ext cx="3456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BrowseComp：mean 35 / median 26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LoHoSearch：mean 61 / median 59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平均工具调用增加 74%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7772400" y="3904488"/>
            <a:ext cx="3840480" cy="1124712"/>
          </a:xfrm>
          <a:prstGeom prst="roundRect">
            <a:avLst>
              <a:gd name="adj" fmla="val 6504"/>
            </a:avLst>
          </a:prstGeom>
          <a:solidFill>
            <a:srgbClr val="F0EA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3904488"/>
            <a:ext cx="73152" cy="11247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4069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结构复杂度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01000" y="4471416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DeepSeek-V4-Flash：树题 11.89%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图题 8.01%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7772400" y="5257800"/>
            <a:ext cx="3840480" cy="676656"/>
          </a:xfrm>
          <a:prstGeom prst="roundRect">
            <a:avLst>
              <a:gd name="adj" fmla="val 10811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5257800"/>
            <a:ext cx="73152" cy="6766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53583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上下文策略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001000" y="5614416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最佳组合只带来 +6.8 个百分点。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LoHoSearch Figure 4, Table 2–3, §3.2–3.4, arXiv:2606.12837v2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METHODOLOGICAL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证明了什么，也没有证明什么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4FFFB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25880"/>
            <a:ext cx="73152" cy="4526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可以借鉴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7552" y="209397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93392"/>
            <a:ext cx="44165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全量轻量结构索引可以系统控制数据构建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987552" y="275783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657246"/>
            <a:ext cx="44165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先采样结构，再做局部语义生成与验证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987552" y="3421685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21101"/>
            <a:ext cx="44165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删除测试与全图回溯可以校验必要性 / 唯一性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87552" y="4085539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984955"/>
            <a:ext cx="44165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自动生成必须配多 agent 过滤与人工审核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987552" y="4749394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648810"/>
            <a:ext cx="44165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公开编辑率、拒绝率和无法证明的边界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236208" y="1325880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325880"/>
            <a:ext cx="73152" cy="45262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490472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不能照搬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65392" y="2093976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993392"/>
            <a:ext cx="43251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它没有做全 Wikipedia 的开放式事实抽取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565392" y="2757830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657246"/>
            <a:ext cx="43251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唯一实体答案 ≠ 多 facet 长篇研究报告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65392" y="3421685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321101"/>
            <a:ext cx="43251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图内唯一性不能排除图外 / 现实世界替代答案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565392" y="4085539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984955"/>
            <a:ext cx="43251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29.2% 只是“未找到替代”，不是形式化唯一证明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565392" y="4749394"/>
            <a:ext cx="91440" cy="91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648810"/>
            <a:ext cx="43251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难度过滤依赖单一校准模型，可能有家族偏差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2788920" y="5961888"/>
            <a:ext cx="6629400" cy="420624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971800" y="6099048"/>
            <a:ext cx="6263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借工程分层原则，不借“唯一答案路线”目标</a:t>
            </a:r>
            <a:endParaRPr lang="en-US" sz="1520" dirty="0"/>
          </a:p>
        </p:txBody>
      </p:sp>
      <p:sp>
        <p:nvSpPr>
          <p:cNvPr id="32" name="Shape 3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§5 Limitations; DRA v3.2 §3.1, §4.3, §25.3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TRANSFER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LoHoSearch 到 DRA：同一分层原则，不同评分对象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98448"/>
            <a:ext cx="73152" cy="4526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630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19659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全量层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103120" y="1993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Wikipedia nodes / hyperlinks / P31 / indegree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960120" y="277063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1635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局部层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2103120" y="27980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采样子图关系描述与自然语言问题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60120" y="3575304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21024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构造目标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2103120" y="36027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大候选空间 + 高结构复杂度 + 图内唯一答案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60120" y="437997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2569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评分对象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103120" y="44074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最终实体答案 accuracy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36208" y="1298448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298448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146304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19659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01168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全量层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6809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所有沙盒 URL / span / table / link / structured field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37960" y="277063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81635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局部层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80960" y="27980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单题事实、经验、机制、冲突、source role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537960" y="3575304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621024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构造目标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680960" y="36027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facet research shape + 可答性 + 不绑路线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537960" y="437997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42569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评分对象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7680960" y="44074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有本次交付证据的研究覆盖 DRA-GRC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5806440" y="3566160"/>
            <a:ext cx="338328" cy="0"/>
          </a:xfrm>
          <a:prstGeom prst="line">
            <a:avLst/>
          </a:prstGeom>
          <a:noFill/>
          <a:ln w="2794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965960" y="5961888"/>
            <a:ext cx="8275320" cy="420624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48840" y="6099048"/>
            <a:ext cx="7909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全量廉价结构化  →  局部昂贵语义处理  →  自动与人工验证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§0, §4.2–4.3; LoHoSearch §2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68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其他工作提供了哪些“积木”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没有一篇论文直接给出完整答案；我们需要组合 evidence-first 构题、广度分母、冻结环境、引用审计与长报告质量。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sandbox-native scoring redesign · 2026-07-18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QUERY AND RUBRIC CONSTRUCTION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Evidence-first 共构：DEEPRUBRIC 与 QUBRIC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DEEPRUBRIC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4965192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先采样 seed topic，递归扩展 evidence-backed sub-questions，形成 evidence tree；叶子是原子、可验证评价目标。随后从树反向生成 query 与 rubric，使“题目问什么”和“奖励什么”同源。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9K query–rubric supervision；以约 13× 更少 RL GPU-hours 达到可比结果。</a:t>
            </a:r>
            <a:endParaRPr lang="en-US" sz="1310" dirty="0"/>
          </a:p>
        </p:txBody>
      </p:sp>
      <p:sp>
        <p:nvSpPr>
          <p:cNvPr id="8" name="Shape 6"/>
          <p:cNvSpPr/>
          <p:nvPr/>
        </p:nvSpPr>
        <p:spPr>
          <a:xfrm>
            <a:off x="6236208" y="1353312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F0EAFE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353312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790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QUBRIC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920240"/>
            <a:ext cx="4901184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指出结构瓶颈：开放 query 产生模糊 rubric；粗暴收窄 query 又会引入无法验证的虚构参考。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teacher key points、query–rubric co-design、contrastive criteria 与 learnability filtering，保留真正有区分度的训练样本。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1234440" y="5184648"/>
            <a:ext cx="9738360" cy="713232"/>
          </a:xfrm>
          <a:prstGeom prst="roundRect">
            <a:avLst>
              <a:gd name="adj" fmla="val 10256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5184648"/>
            <a:ext cx="73152" cy="7132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5285232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的取舍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63040" y="5541264"/>
            <a:ext cx="9354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接受“证据结构与 query / tests 同源”，但把 witness 降级为可答性证书；用合同接受新证据，避免训练式 rubric 绑定构题路线。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DEEPRUBRIC arXiv:2606.17029; QUBRIC arXiv:2606.03968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BREADTH AND STOPPING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广度类基准告诉我们：必须同时报告连续覆盖与严格成功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93008" cy="431596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4315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81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WideSearch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31089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道人工题；收集大规模原子信息；最强整体 success 约 5%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DRA 的启发：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显式集合分母 + strict success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4498848" y="1417320"/>
            <a:ext cx="3493008" cy="431596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417320"/>
            <a:ext cx="73152" cy="43159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581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DeepSearchQA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1984248"/>
            <a:ext cx="31089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 个多步任务；要求穷尽答案列表；强调去重、实体解析、停止条件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DRA 的启发：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recall 与 precision 的张力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8311896" y="1417320"/>
            <a:ext cx="3493008" cy="431596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11896" y="1417320"/>
            <a:ext cx="73152" cy="431596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581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DeepWideSearch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0496" y="1984248"/>
            <a:ext cx="31089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 题、15 领域；同一任务同时要求多跳深度和大规模宽度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DRA 的启发：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/ 宽度应分解诊断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1645920" y="5943600"/>
            <a:ext cx="8887968" cy="420624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6080760"/>
            <a:ext cx="8522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DRA：连续 DRA-GRC 做主排序  +  Full Pass / Task Solve Rate 单独报告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WideSearch arXiv:2508.07999; DeepSearchQA arXiv:2601.20975; DeepWideSearch arXiv:2510.20168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REPRODUCIBLE WORLDS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冻结环境解决“可复现”，但不会自动解决“怎样评分报告”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828800" cy="960120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8016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2331720" y="1234440"/>
            <a:ext cx="2331720" cy="960120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04872" y="128016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冻结方式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108960" cy="960120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2801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主要评分 / 分析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772400" y="1234440"/>
            <a:ext cx="3931920" cy="960120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5552" y="1280160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借鉴与边界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1828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DeepResearchGym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2331720" y="2194560"/>
            <a:ext cx="233172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224028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ClueWeb22 + FineWeb 稳定搜索 API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310896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24028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信息需求、retrieval faithfulness、report quality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772400" y="2194560"/>
            <a:ext cx="393192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2240280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冻结检索可行；语义 ground truth 仍按题构建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1828800" cy="960120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FutureSearch DRB / RetroSearch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331720" y="3154680"/>
            <a:ext cx="2331720" cy="960120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320040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冻结大量历史网页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3108960" cy="960120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20040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人工解题答案 + 长轨迹自动分析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772400" y="3154680"/>
            <a:ext cx="3931920" cy="960120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3200400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offline 与 live agent 可比；缺少 delivered-span audit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02920" y="4114800"/>
            <a:ext cx="1828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16052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BrowseComp-Plus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331720" y="4114800"/>
            <a:ext cx="233172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4160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固定支持文档 + hard negatives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4663440" y="4114800"/>
            <a:ext cx="310896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416052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答案、检索、引用、上下文工程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7772400" y="4114800"/>
            <a:ext cx="393192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5552" y="4160520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支持受控消融；gold documents 可能绑定证据路线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1097280" y="5413248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5413248"/>
            <a:ext cx="73152" cy="62179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54772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“有冻结语料”只是必要条件；DRA 额外利用 Observation Ledger 判断原页面内容经过 harness 变换后是否真正交付。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DeepResearchGym arXiv:2505.19253; Deep Research Bench arXiv:2506.06287; BrowseComp-Plus arXiv:2508.06600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REPORT EVALUATION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长报告 rubric 路线：表达力强，但构建成本与路线继承风险都很高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Mind2Web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4965192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 个真实长时程 web 任务，投入超过 1,000 人时；用 tree-structured rubrics 构建 task-specific judge agents，同时评价 answer correctness 与 source attribution。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优势：贴近真实 agentic search。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代价：高人力；开放网络答案随时间变化。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6208" y="1353312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353312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790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DeepResearch Bench II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920240"/>
            <a:ext cx="4901184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 个 grounded research tasks，22 个领域，共 9,430 个细粒度二值 rubrics；覆盖 information recall、analysis、presentation。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rubrics 来自专家调查文章，经四阶段 LLM+human 管线和 400+ 专家人时。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5230368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5230368"/>
            <a:ext cx="73152" cy="65836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5330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的选择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1554480" y="5586984"/>
            <a:ext cx="9125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不用粗粒度 Likert，也不为每题写庞大唯一答案 rubric；由统一 compiler 生成少量分层 tests，并公开人审编辑率与异常率。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Mind2Web 2 arXiv:2506.21506; DeepResearch Bench II arXiv:2601.08536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CITATION AND FAITHFULNESS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引用研究告诉我们：正确、完整、真实依赖是三件不同的事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93008" cy="413308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41330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81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310896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分别评 fluency、answer correctness、citation correctness / completeness；引用质量可自动化，但仍主要是 claim 级。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4498848" y="1417320"/>
            <a:ext cx="3493008" cy="413308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417320"/>
            <a:ext cx="73152" cy="41330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581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1984248"/>
            <a:ext cx="310896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把长文本拆成 atomic facts，计算有可靠来源支持的比例；精确度强，但分母来自报告自己说了什么。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311896" y="1417320"/>
            <a:ext cx="3493008" cy="413308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11896" y="1417320"/>
            <a:ext cx="73152" cy="41330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58191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Correctness is not Faithfulness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0496" y="1984248"/>
            <a:ext cx="310896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引用页支持说法，并不保证模型真的依赖该页；研究发现 post-rationalization，最多 57% 引用缺乏 faithfulness。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1005840" y="5486400"/>
            <a:ext cx="10149840" cy="576072"/>
          </a:xfrm>
          <a:prstGeom prst="roundRect">
            <a:avLst>
              <a:gd name="adj" fmla="val 12698"/>
            </a:avLst>
          </a:prstGeom>
          <a:solidFill>
            <a:srgbClr val="F0EA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486400"/>
            <a:ext cx="73152" cy="576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55504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的增量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+ delivered-span ledger 排除“未观察引用”；8–10 道反事实双胞胎世界再抽样检查结论是否随证据改变。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ALCE arXiv:2305.14627; FActScore arXiv:2305.14251; Correctness is not Faithfulness arXiv:2412.18004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SYNTHESIS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在本次核查的代表性工作中，五项能力通常被分开处理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0624" y="1143000"/>
            <a:ext cx="2057400" cy="5669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188720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2478024" y="1143000"/>
            <a:ext cx="1463040" cy="5669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51176" y="118872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冻结世界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941064" y="1143000"/>
            <a:ext cx="1645920" cy="5669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14216" y="118872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广度分母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586984" y="1143000"/>
            <a:ext cx="1828800" cy="5669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0136" y="118872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运行内交付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415784" y="1143000"/>
            <a:ext cx="1828800" cy="5669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118872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替代证据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9244584" y="1143000"/>
            <a:ext cx="2377440" cy="5669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118872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长报告综合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20624" y="1709928"/>
            <a:ext cx="20574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75564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2478024" y="1709928"/>
            <a:ext cx="14630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17556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941064" y="1709928"/>
            <a:ext cx="16459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14216" y="175564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结构约束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586984" y="1709928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0136" y="175564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415784" y="1709928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175564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图条件等价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244584" y="1709928"/>
            <a:ext cx="23774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175564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20624" y="2276856"/>
            <a:ext cx="20574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2322576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DEEPRUBRIC / QUBRIC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478024" y="2276856"/>
            <a:ext cx="14630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51176" y="232257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局部证据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941064" y="2276856"/>
            <a:ext cx="164592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14216" y="232257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586984" y="2276856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0136" y="232257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7415784" y="2276856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88936" y="232257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 条件化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9244584" y="2276856"/>
            <a:ext cx="23774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17736" y="2322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训练侧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20624" y="2843784"/>
            <a:ext cx="20574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2889504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Wide / DeepSearchQA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2478024" y="2843784"/>
            <a:ext cx="14630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51176" y="288950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开放网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3941064" y="2843784"/>
            <a:ext cx="16459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14216" y="288950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答案集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5586984" y="2843784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0136" y="288950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7415784" y="2843784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88936" y="288950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答案集等价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9244584" y="2843784"/>
            <a:ext cx="23774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17736" y="288950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聚合为主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420624" y="3410712"/>
            <a:ext cx="20574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3456432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DeepResearchGym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2478024" y="3410712"/>
            <a:ext cx="14630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51176" y="345643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3941064" y="3410712"/>
            <a:ext cx="164592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14216" y="345643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5586984" y="3410712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0136" y="345643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 claim–citation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7415784" y="3410712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88936" y="345643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 URL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9244584" y="3410712"/>
            <a:ext cx="23774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17736" y="345643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rubric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420624" y="3977640"/>
            <a:ext cx="20574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" y="4023360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BrowseComp-Plus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2478024" y="3977640"/>
            <a:ext cx="14630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51176" y="402336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70" dirty="0"/>
          </a:p>
        </p:txBody>
      </p:sp>
      <p:sp>
        <p:nvSpPr>
          <p:cNvPr id="68" name="Shape 66"/>
          <p:cNvSpPr/>
          <p:nvPr/>
        </p:nvSpPr>
        <p:spPr>
          <a:xfrm>
            <a:off x="3941064" y="3977640"/>
            <a:ext cx="16459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14216" y="402336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5586984" y="3977640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0136" y="402336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gold-document 核验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7415784" y="3977640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88936" y="402336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documents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9244584" y="3977640"/>
            <a:ext cx="23774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17736" y="402336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答案为主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420624" y="4544568"/>
            <a:ext cx="20574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" y="459028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Mind2Web 2 / DRB II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2478024" y="4544568"/>
            <a:ext cx="14630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51176" y="459028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开放网/专家文</a:t>
            </a:r>
            <a:endParaRPr lang="en-US" sz="870" dirty="0"/>
          </a:p>
        </p:txBody>
      </p:sp>
      <p:sp>
        <p:nvSpPr>
          <p:cNvPr id="80" name="Shape 78"/>
          <p:cNvSpPr/>
          <p:nvPr/>
        </p:nvSpPr>
        <p:spPr>
          <a:xfrm>
            <a:off x="3941064" y="4544568"/>
            <a:ext cx="164592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14216" y="459028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</a:t>
            </a:r>
            <a:endParaRPr lang="en-US" sz="870" dirty="0"/>
          </a:p>
        </p:txBody>
      </p:sp>
      <p:sp>
        <p:nvSpPr>
          <p:cNvPr id="82" name="Shape 80"/>
          <p:cNvSpPr/>
          <p:nvPr/>
        </p:nvSpPr>
        <p:spPr>
          <a:xfrm>
            <a:off x="5586984" y="4544568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0136" y="45902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轨迹/引用接口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7415784" y="4544568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88936" y="45902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 接受</a:t>
            </a:r>
            <a:endParaRPr lang="en-US" sz="870" dirty="0"/>
          </a:p>
        </p:txBody>
      </p:sp>
      <p:sp>
        <p:nvSpPr>
          <p:cNvPr id="86" name="Shape 84"/>
          <p:cNvSpPr/>
          <p:nvPr/>
        </p:nvSpPr>
        <p:spPr>
          <a:xfrm>
            <a:off x="9244584" y="4544568"/>
            <a:ext cx="23774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17736" y="459028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rubric</a:t>
            </a:r>
            <a:endParaRPr lang="en-US" sz="870" dirty="0"/>
          </a:p>
        </p:txBody>
      </p:sp>
      <p:sp>
        <p:nvSpPr>
          <p:cNvPr id="88" name="Shape 86"/>
          <p:cNvSpPr/>
          <p:nvPr/>
        </p:nvSpPr>
        <p:spPr>
          <a:xfrm>
            <a:off x="420624" y="5111496"/>
            <a:ext cx="20574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3776" y="5157216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ALCE / FActScore</a:t>
            </a:r>
            <a:endParaRPr lang="en-US" sz="870" dirty="0"/>
          </a:p>
        </p:txBody>
      </p:sp>
      <p:sp>
        <p:nvSpPr>
          <p:cNvPr id="90" name="Shape 88"/>
          <p:cNvSpPr/>
          <p:nvPr/>
        </p:nvSpPr>
        <p:spPr>
          <a:xfrm>
            <a:off x="2478024" y="5111496"/>
            <a:ext cx="14630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551176" y="5157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检索语料</a:t>
            </a:r>
            <a:endParaRPr lang="en-US" sz="870" dirty="0"/>
          </a:p>
        </p:txBody>
      </p:sp>
      <p:sp>
        <p:nvSpPr>
          <p:cNvPr id="92" name="Shape 90"/>
          <p:cNvSpPr/>
          <p:nvPr/>
        </p:nvSpPr>
        <p:spPr>
          <a:xfrm>
            <a:off x="3941064" y="5111496"/>
            <a:ext cx="16459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14216" y="51572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claims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5586984" y="5111496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60136" y="51572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70" dirty="0"/>
          </a:p>
        </p:txBody>
      </p:sp>
      <p:sp>
        <p:nvSpPr>
          <p:cNvPr id="96" name="Shape 94"/>
          <p:cNvSpPr/>
          <p:nvPr/>
        </p:nvSpPr>
        <p:spPr>
          <a:xfrm>
            <a:off x="7415784" y="5111496"/>
            <a:ext cx="1828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88936" y="51572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任意支持源</a:t>
            </a:r>
            <a:endParaRPr lang="en-US" sz="870" dirty="0"/>
          </a:p>
        </p:txBody>
      </p:sp>
      <p:sp>
        <p:nvSpPr>
          <p:cNvPr id="98" name="Shape 96"/>
          <p:cNvSpPr/>
          <p:nvPr/>
        </p:nvSpPr>
        <p:spPr>
          <a:xfrm>
            <a:off x="9244584" y="5111496"/>
            <a:ext cx="23774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317736" y="515721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claim-level</a:t>
            </a:r>
            <a:endParaRPr lang="en-US" sz="870" dirty="0"/>
          </a:p>
        </p:txBody>
      </p:sp>
      <p:sp>
        <p:nvSpPr>
          <p:cNvPr id="100" name="Shape 98"/>
          <p:cNvSpPr/>
          <p:nvPr/>
        </p:nvSpPr>
        <p:spPr>
          <a:xfrm>
            <a:off x="420624" y="5678424"/>
            <a:ext cx="20574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3776" y="5724144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候选目标</a:t>
            </a:r>
            <a:endParaRPr lang="en-US" sz="870" dirty="0"/>
          </a:p>
        </p:txBody>
      </p:sp>
      <p:sp>
        <p:nvSpPr>
          <p:cNvPr id="102" name="Shape 100"/>
          <p:cNvSpPr/>
          <p:nvPr/>
        </p:nvSpPr>
        <p:spPr>
          <a:xfrm>
            <a:off x="2478024" y="5678424"/>
            <a:ext cx="14630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51176" y="572414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70" dirty="0"/>
          </a:p>
        </p:txBody>
      </p:sp>
      <p:sp>
        <p:nvSpPr>
          <p:cNvPr id="104" name="Shape 102"/>
          <p:cNvSpPr/>
          <p:nvPr/>
        </p:nvSpPr>
        <p:spPr>
          <a:xfrm>
            <a:off x="3941064" y="5678424"/>
            <a:ext cx="164592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014216" y="57241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facets</a:t>
            </a:r>
            <a:endParaRPr lang="en-US" sz="870" dirty="0"/>
          </a:p>
        </p:txBody>
      </p:sp>
      <p:sp>
        <p:nvSpPr>
          <p:cNvPr id="106" name="Shape 104"/>
          <p:cNvSpPr/>
          <p:nvPr/>
        </p:nvSpPr>
        <p:spPr>
          <a:xfrm>
            <a:off x="5586984" y="5678424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60136" y="572414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span-level</a:t>
            </a:r>
            <a:endParaRPr lang="en-US" sz="870" dirty="0"/>
          </a:p>
        </p:txBody>
      </p:sp>
      <p:sp>
        <p:nvSpPr>
          <p:cNvPr id="108" name="Shape 106"/>
          <p:cNvSpPr/>
          <p:nvPr/>
        </p:nvSpPr>
        <p:spPr>
          <a:xfrm>
            <a:off x="7415784" y="5678424"/>
            <a:ext cx="182880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488936" y="572414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contract</a:t>
            </a:r>
            <a:endParaRPr lang="en-US" sz="870" dirty="0"/>
          </a:p>
        </p:txBody>
      </p:sp>
      <p:sp>
        <p:nvSpPr>
          <p:cNvPr id="110" name="Shape 108"/>
          <p:cNvSpPr/>
          <p:nvPr/>
        </p:nvSpPr>
        <p:spPr>
          <a:xfrm>
            <a:off x="9244584" y="5678424"/>
            <a:ext cx="2377440" cy="5669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317736" y="572414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独立质量面板</a:t>
            </a:r>
            <a:endParaRPr lang="en-US" sz="870" dirty="0"/>
          </a:p>
        </p:txBody>
      </p:sp>
      <p:sp>
        <p:nvSpPr>
          <p:cNvPr id="112" name="Text 110"/>
          <p:cNvSpPr/>
          <p:nvPr/>
        </p:nvSpPr>
        <p:spPr>
          <a:xfrm>
            <a:off x="685800" y="6181344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= 正式设计目标；“—”表示论文不以该构念为核心。矩阵用于定位，不表示优劣总评。</a:t>
            </a:r>
            <a:endParaRPr lang="en-US" sz="870" dirty="0"/>
          </a:p>
        </p:txBody>
      </p:sp>
      <p:sp>
        <p:nvSpPr>
          <p:cNvPr id="113" name="Shape 11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Primary-source comparison; exact scope follows cited papers, not a universal leaderboard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IV · DESIGN OPPORTUNITIES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可验证的设计机会：这些现在还是 hypotheses，不是已证明贡献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33502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80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1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1600200" y="1234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广度与证据常被分开评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42976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49240" y="1216152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在每个 research check 内把内容完成与证据门合取。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1600200" y="1956816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32257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36829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2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600200" y="2221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gold URL 容易绑路线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4709160" y="2450592"/>
            <a:ext cx="429768" cy="0"/>
          </a:xfrm>
          <a:prstGeom prst="line">
            <a:avLst/>
          </a:prstGeom>
          <a:noFill/>
          <a:ln w="20320">
            <a:solidFill>
              <a:srgbClr val="2EC4B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349240" y="2203704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证据合同定义认识论要求，known witness 只证可答；新在册证据可按同一 matcher 通过。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1600200" y="2944368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10128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35584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3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1600200" y="3209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“抓取过”通常停在工具事件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4709160" y="3438144"/>
            <a:ext cx="429768" cy="0"/>
          </a:xfrm>
          <a:prstGeom prst="line">
            <a:avLst/>
          </a:prstGeom>
          <a:noFill/>
          <a:ln w="2032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349240" y="3191256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Ledger v2 保存 raw → transforms → delivered artifact 血统。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600200" y="3931920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29768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34340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4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600200" y="41970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引用正确不等于证据依赖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4709160" y="4425696"/>
            <a:ext cx="429768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349240" y="4178808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反事实双胞胎世界与 canary 作为独立因果接地证书。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1600200" y="4919472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5285232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DEBF0"/>
          </a:solidFill>
          <a:ln w="12700">
            <a:solidFill>
              <a:srgbClr val="FD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533095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5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600200" y="5184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rubric 很难证明有效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4709160" y="5413248"/>
            <a:ext cx="429768" cy="0"/>
          </a:xfrm>
          <a:prstGeom prst="line">
            <a:avLst/>
          </a:prstGeom>
          <a:noFill/>
          <a:ln w="20320">
            <a:solidFill>
              <a:srgbClr val="EF476F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349240" y="5166360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+ 自然/腐蚀/替代/边界四层校准，公开 FRR/FAR 与人工编辑率。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literature synthesis: docs/DRA_V3_LITERATURE_SOLUTIONS_2026-07-17.md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68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沙盒原生评分：v3.2 基线 + v3.3 候选修订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 → Task World Model → Research Test Suite → Execution Audit；Raw coverage 与 integrity-adjusted ranking 分开。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sandbox-native scoring redesign · 2026-07-18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整体架构：三层资产 + 一层运行审计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47088"/>
            <a:ext cx="2057400" cy="2542032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47088"/>
            <a:ext cx="73152" cy="2542032"/>
          </a:xfrm>
          <a:prstGeom prst="rect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11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Sandbox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94360" y="2414016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· snapshot · page structure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2423160" y="31272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15768" y="1847088"/>
            <a:ext cx="2057400" cy="2542032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1847088"/>
            <a:ext cx="73152" cy="2542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2011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2944368" y="2414016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全量解析 · span · link · structured fields · retrieval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4773168" y="31272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5776" y="1847088"/>
            <a:ext cx="2057400" cy="2542032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65776" y="1847088"/>
            <a:ext cx="73152" cy="2542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94376" y="2011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World Model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5294376" y="2414016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 assertions · events · mechanisms · conflicts · roles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7123176" y="31272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15784" y="1847088"/>
            <a:ext cx="2057400" cy="2542032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5784" y="1847088"/>
            <a:ext cx="73152" cy="25420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2011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Test Suite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7644384" y="2414016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facet · unit · check · evidence contract · witnesses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9473184" y="3127248"/>
            <a:ext cx="23774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65792" y="1847088"/>
            <a:ext cx="2057400" cy="2542032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65792" y="1847088"/>
            <a:ext cx="73152" cy="2542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94392" y="2011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Audit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9994392" y="2414016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· citations · ledger · matcher · certificates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404164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/ Case Blueprint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47488" y="1536192"/>
            <a:ext cx="640080" cy="292608"/>
          </a:xfrm>
          <a:prstGeom prst="line">
            <a:avLst/>
          </a:prstGeom>
          <a:noFill/>
          <a:ln w="2159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555480" y="11887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run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168128" y="1527048"/>
            <a:ext cx="0" cy="301752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97280" y="5074920"/>
            <a:ext cx="10012680" cy="685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80160" y="5212080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输出：Penalized mean DRA-GRC  +  Full Pass / URL / Funnel / Quality / Cost / Counterfactual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§4.2, §4.6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WORLD COMPILER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1：World Index 全量做什么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23 万页面可以全量结构化，但不做每页“所有事实”的 LLM 枚举。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2704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canonicalization / alias / redirect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4443984" y="148132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152704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010912" y="13898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状态、快照、内容 hash 与 manifest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8266176" y="148132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152704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833104" y="13898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 section / paragraph / list 的稳定 span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621792" y="2807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85292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188720" y="2715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header-row-column-cell 关系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4443984" y="2807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285292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010912" y="2715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 post / reply / quote / author 层级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8266176" y="280720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285292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833104" y="2715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 span 级出链图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621792" y="413308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17880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1188720" y="40416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JSON-LD、商品规格与确定性结构字段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4443984" y="413308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9704" y="417880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010912" y="40416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family + exact / BM25 / dense 检索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8266176" y="413308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11896" y="417880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833104" y="40416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exact duplicate 与 near-duplicate clusters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1170432" y="5440680"/>
            <a:ext cx="9829800" cy="658368"/>
          </a:xfrm>
          <a:prstGeom prst="roundRect">
            <a:avLst>
              <a:gd name="adj" fmla="val 11111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70432" y="5440680"/>
            <a:ext cx="73152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9032" y="5541264"/>
            <a:ext cx="9464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成本原则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99032" y="5797296"/>
            <a:ext cx="9445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全量只做线性解析/索引；小规模可枚举的高风险规则/域名全审，其余按 source family×parser×template 分层抽样；进入 TWM core witness 或高复用 certificate 的 span 全审。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§5.1–5.3, §21 Phase 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TASK WORLD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2：只在单题候选区域做昂贵语义抽取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3493008" cy="422452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73152" cy="42245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31089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规格值 / 原值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厂商与零售主张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限定条件 / 版本 / 时间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“没有写”只允许有界范围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353312"/>
            <a:ext cx="3493008" cy="422452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353312"/>
            <a:ext cx="73152" cy="422452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1790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论坛与社区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920240"/>
            <a:ext cx="31089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同型号 / 相似型号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事件与场景条件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使用时长 / 时间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个案不能升级为发生率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02752" y="1353312"/>
            <a:ext cx="3493008" cy="422452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353312"/>
            <a:ext cx="73152" cy="42245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151790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Wikipedia / 标准 / 技术页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31352" y="1920240"/>
            <a:ext cx="31089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/ 定义 / 测量方法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一般机制到具体商品必须有 bridge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不把百科当产品实测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5833872"/>
            <a:ext cx="10241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9161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抽取结果不是“真 / 假”一列，而是：谁在什么时间、什么条件、以什么来源角色说了什么；以及支持、冲突、限定、异质、unknown 的关系。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§5.5–5.13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RESEARCH TEST COMPILER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3：从 query 编译研究结构，不是随机从事实池抽题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52728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/ Case Blueprint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30752" y="1353312"/>
            <a:ext cx="4297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407408" y="111556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用户约束 · 候选范围 · facets · 输出需求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58368" y="2203704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249424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234440" y="2093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Contract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30752" y="2304288"/>
            <a:ext cx="429768" cy="0"/>
          </a:xfrm>
          <a:prstGeom prst="line">
            <a:avLst/>
          </a:prstGeom>
          <a:noFill/>
          <a:ln w="19050">
            <a:solidFill>
              <a:srgbClr val="3A86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407408" y="2066544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显式需求 · 隐含不可删除义务 · 条件与禁止推断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58368" y="31546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200400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234440" y="3044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Units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30752" y="3255264"/>
            <a:ext cx="429768" cy="0"/>
          </a:xfrm>
          <a:prstGeom prst="line">
            <a:avLst/>
          </a:prstGeom>
          <a:noFill/>
          <a:ln w="19050">
            <a:solidFill>
              <a:srgbClr val="2EC4B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407408" y="301752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· claim audit · 机制 · 冲突 · 教程 · 预算 · 推荐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58368" y="4105656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151376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234440" y="39959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 Checks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30752" y="4206240"/>
            <a:ext cx="429768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407408" y="396849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unit 2–5 个 canonical checks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58368" y="505663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5102352"/>
            <a:ext cx="292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234440" y="49469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RTS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730752" y="5157216"/>
            <a:ext cx="42976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407408" y="49194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contract · evidence contract · premise DAG · witnesses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841248" y="550468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5504688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56052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S · 前 14 道人工 seed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1069848" y="5861304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query-first 恢复 facets；双人抽样审核必要性与自然性。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217920" y="550468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5504688"/>
            <a:ext cx="73152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6052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G · 后续生成题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6446520" y="5861304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 research shape 和 blueprint，再共同生成 query / RTS。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§5.4, §6.1–6.12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CONSTRUCT VALIDITY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必须诚实：Compiler 产生的分母仍是“待验证假设”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不是什么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2377440" y="1152144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不是世界自动吐出的客观真理，也不是 LLM 生成后就冻结。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2377440" y="1810512"/>
            <a:ext cx="896112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谁来提案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377440" y="20848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Compiler 从 query、任务类型学和 TWM 提出 facets / units / checks。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2377440" y="2743200"/>
            <a:ext cx="896112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272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72968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谁判必要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377440" y="3017520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双人盲标 + deletion test：删掉它是否实质改变用户任务？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2377440" y="3675888"/>
            <a:ext cx="896112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5993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05656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谁证可答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377440" y="3950208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冻结世界中的 evidence contract + 至少一组 known witness；不将 witness 当唯一路线。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2377440" y="4608576"/>
            <a:ext cx="896112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99262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38344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谁验区分度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377440" y="4882896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/ null / 流畅空话 / URL dump / 合法替代 / 无效路线。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960120" y="5943600"/>
            <a:ext cx="10241280" cy="420624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6080760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能声称的是“经校准的 query-conditioned 分母”，不是“唯一客观 rubric”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Validity evidence required: edit rate · inter-annotator band · deletion test · route FRR · shortcut FAR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END-TO-END EXAMPLE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单题编译例：$60 阳台/泳池扬声器决策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任务并不要求一个固定胜者，它要求审计 Soundcore Flare 2 与 Ortizan 40W 的可证性。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1508760"/>
            <a:ext cx="2011680" cy="10241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Facet / Unit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2395728" y="1508760"/>
            <a:ext cx="5669280" cy="10241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554480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check（节选）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065008" y="1508760"/>
            <a:ext cx="3657600" cy="10241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554480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证据合同 / 分支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84048" y="2532888"/>
            <a:ext cx="20116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78608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价格与候选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395728" y="2532888"/>
            <a:ext cx="56692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578608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对齐两个 listing 的精确价格，确认是否满足 $60 总预算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065008" y="2532888"/>
            <a:ext cx="36576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578608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两个商品页；版本/时点一致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84048" y="3557016"/>
            <a:ext cx="2011680" cy="10241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02736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输出与失真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2395728" y="3557016"/>
            <a:ext cx="5669280" cy="10241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602736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准确转述 watt / THD 文案；不把 &lt;1% THD+N 直推成“高音量更低失真”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065008" y="3557016"/>
            <a:ext cx="3657600" cy="10241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602736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listing + 测量/机制页；禁止过度推断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84048" y="4581144"/>
            <a:ext cx="20116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26864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泳池场景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2395728" y="4581144"/>
            <a:ext cx="56692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626864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IPX7 的测试边界；分开标准含义、商品声明和用户个案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065008" y="4581144"/>
            <a:ext cx="36576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4626864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角色合同：标准/技术 + listing；论坛不可替代认证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49808" y="591616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前三个 units 展示一个重要原则：不能把不同版本、时点或条件的有利前提拼接成合法路线。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dra_v3_dev_audio_0002 · illustrative compiler target, subject to Dev-14 calibration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END-TO-END EXAMPLE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单题编译例（续）：条件分支和推荐包络避免固定路线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508760"/>
            <a:ext cx="2011680" cy="10241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Facet / Unit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2395728" y="1508760"/>
            <a:ext cx="5669280" cy="10241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554480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check（节选）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065008" y="1508760"/>
            <a:ext cx="3657600" cy="102412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554480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证据合同 / 分支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2532888"/>
            <a:ext cx="20116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78608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Hi-Res 宣传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395728" y="2532888"/>
            <a:ext cx="56692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578608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若两个 listing 均无该宣传，报告有界说明后可判“不影响决策”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065008" y="2532888"/>
            <a:ext cx="36576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578608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absence branch OR claim-audit branch；不强制 LDAC 路线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84048" y="3557016"/>
            <a:ext cx="2011680" cy="10241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02736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社区证据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395728" y="3557016"/>
            <a:ext cx="5669280" cy="10241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602736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区分一般扬声器讨论与同型号涉水验证；可报告有界未找到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065008" y="3557016"/>
            <a:ext cx="3657600" cy="102412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3602736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任意合格论坛页 OR bounded absence protocol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384048" y="4581144"/>
            <a:ext cx="20116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26864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2395728" y="4581144"/>
            <a:ext cx="56692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626864"/>
            <a:ext cx="5522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任一候选都可通过，但必须与预算、审计性、失真风险和未知项一致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065008" y="4581144"/>
            <a:ext cx="36576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626864"/>
            <a:ext cx="3511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Envelope；不固定 soundcore_flare2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41248" y="5596128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596128"/>
            <a:ext cx="73152" cy="6400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5660136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允许多路线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URL、有界未发现、独立测量页都可在同一契约下裁决。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263640" y="5596128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5596128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660136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允许多结论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推荐不锁定商品名；只要它属于约束与证据一致的 Decision Envelope。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dra_v3_dev_audio_0002 · conditional branches and open recommendation set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CONTRACT-ADMISSIBLE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不设唯一标准路线：冻结的是证据合同，不是 URL 白名单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508760" y="1261872"/>
            <a:ext cx="9189720" cy="65836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91640" y="1399032"/>
            <a:ext cx="8823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Aᵤ = { E ⊆ W : E ⊨ Γᵤ }       known witnesses Kᵤ ⊂ Aᵤ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2258568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258568"/>
            <a:ext cx="73152" cy="33375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23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Γᵤ：证据合同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825496"/>
            <a:ext cx="272491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哪些外部前提必须支持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允许何种来源角色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单页还是多页联合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条件与范围如何绑定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哪些推断被禁止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2258568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2258568"/>
            <a:ext cx="73152" cy="3337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4231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 of AND 路线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825496"/>
            <a:ext cx="322783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同一前提可有多个 evidence bundles：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(bundle A：商品页 + 技术页)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OR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(bundle B：独立测量页)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bundle 内是 AND；bundles 之间是 OR。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799832" y="2258568"/>
            <a:ext cx="373075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99832" y="2258568"/>
            <a:ext cx="73152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2423160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运行时新页面如何通过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28432" y="2825496"/>
            <a:ext cx="334670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URL 属于冻结 registry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支持 span 本次交付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与附近 claim 正确绑定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语义满足合同前提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source role / scope 合格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收集为 novel pair，在同一榜单 epoch 内批量盲裁。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5916168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若当前只知道一个支持页面，诚实标记 single_source；不虚构“所有命题都有多路线”。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§4.5, §5.11, §6.10–6.11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EVIDENCE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替代证据不能“边跑边改榜”：用 leaderboard epoch 冻结 certificate ledger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1115568" y="126187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30759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393192" y="19202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920240"/>
            <a:ext cx="73152" cy="3063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收齐本 epoch 提交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21792" y="2487168"/>
            <a:ext cx="1673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只收集未知 (claim, span, contract) novel pairs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459736" y="3456432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65576" y="126187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30759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2743200" y="19202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920240"/>
            <a:ext cx="73152" cy="3063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去重与 canonical batch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971800" y="2487168"/>
            <a:ext cx="1673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 claim、同一 span、同一证据角色合并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809744" y="3456432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15584" y="126187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1304" y="130759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93208" y="19202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93208" y="1920240"/>
            <a:ext cx="73152" cy="30632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盲裁 + 复核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5321808" y="2487168"/>
            <a:ext cx="1673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support / role / scope / binding；强制附摘录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159752" y="3456432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65592" y="126187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130759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443216" y="19202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3216" y="1920240"/>
            <a:ext cx="73152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71816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ledger hash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7671816" y="2487168"/>
            <a:ext cx="1673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对所有 submission 使用同一 certificate snapshot 重算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9509760" y="3456432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0" y="126187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61320" y="130759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793224" y="19202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93224" y="1920240"/>
            <a:ext cx="73152" cy="3063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21824" y="20848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 epoch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10021824" y="2487168"/>
            <a:ext cx="1673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新证据进下一批；不静默改变历史榜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914400" y="5321808"/>
            <a:ext cx="4965192" cy="713232"/>
          </a:xfrm>
          <a:prstGeom prst="roundRect">
            <a:avLst>
              <a:gd name="adj" fmla="val 10256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5321808"/>
            <a:ext cx="73152" cy="7132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5422392"/>
            <a:ext cx="459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防污染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1143000" y="5678424"/>
            <a:ext cx="4581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一次误判不会只影响后来的 harness；复核后同 epoch 统一重算。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281928" y="5321808"/>
            <a:ext cx="4965192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81928" y="5321808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5422392"/>
            <a:ext cx="459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6510528" y="5678424"/>
            <a:ext cx="4581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world / TWM / RTS / certificate-ledger / judge / scorer 全部 hash。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Proposed leaderboard-epoch protocol for on-demand evidence certificates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EXECUTION AUDIT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4：Observation Ledger v2 统一 12 个 harness 的“观察”语义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73152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raw_fetch_hash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2157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body / API response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3136392" y="257860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572768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72768"/>
            <a:ext cx="73152" cy="20116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transform_lineage[]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139696"/>
            <a:ext cx="2157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html→text · normalize · chunk · summarize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016752" y="257860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572768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72768"/>
            <a:ext cx="73152" cy="2011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delivered_artifact_hash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2139696"/>
            <a:ext cx="2157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真正进入模型上下文的 artifact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897112" y="257860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1572768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572768"/>
            <a:ext cx="73152" cy="2011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7373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delivered span IDs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64040" y="2139696"/>
            <a:ext cx="2157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支持证据在交付物中的可定位片段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777240" y="4096512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4223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· 原样交付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547872" y="4096512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414223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A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normalized · 确定性规范化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318504" y="4096512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14223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extractive · 抽取片段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089136" y="4096512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856" y="414223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abstractive · 摘要式 mediated observation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41248" y="4846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" y="4846320"/>
            <a:ext cx="73152" cy="10058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494690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资格门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1069848" y="5202936"/>
            <a:ext cx="4782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harness 先通过 delivery canary 与 lineage 回放；无法捕获真正交付物则进入 report-only 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6208" y="4846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4846320"/>
            <a:ext cx="73152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494690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不按工具名称特判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6464808" y="5202936"/>
            <a:ext cx="4782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browser、shell、HTTP、RAG、摘要器只要能证明交付血统，就使用同一 Evidence gate 语义。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§7.1–7.5, §21 Phase 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SCORING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最小评分单元：Content Contract × Evidence Gate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337560" y="1234440"/>
            <a:ext cx="5486400" cy="749808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13716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zₜ,ᶠ,ᵘ,ₖ = Cₜ,ᶠ,ᵘ,ₖ × Eₜ,ᶠ,ᵘ,ₖ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2304288"/>
            <a:ext cx="37033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304288"/>
            <a:ext cx="73152" cy="30632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688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C：内容合同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871216"/>
            <a:ext cx="331927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报告是否真的完成这个 check：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提到要求的对象 / 维度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做出比较或解释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正确表达条件与范围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把结论连接到用户需求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typed pointwise judge / deterministic executor 判定。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572000" y="2304288"/>
            <a:ext cx="6949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304288"/>
            <a:ext cx="73152" cy="3063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4688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E：证据门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56048" y="297180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1363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36592" y="3767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in registry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5705856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632" y="2971800"/>
            <a:ext cx="658368" cy="6583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31363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0176" y="3767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Observed / delivered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6949440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43216" y="2971800"/>
            <a:ext cx="658368" cy="6583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31363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767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 locally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8193024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86800" y="2971800"/>
            <a:ext cx="658368" cy="6583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31363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67344" y="3767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Semantically supportive</a:t>
            </a:r>
            <a:endParaRPr lang="en-US" sz="890" dirty="0"/>
          </a:p>
        </p:txBody>
      </p:sp>
      <p:sp>
        <p:nvSpPr>
          <p:cNvPr id="28" name="Text 26"/>
          <p:cNvSpPr/>
          <p:nvPr/>
        </p:nvSpPr>
        <p:spPr>
          <a:xfrm>
            <a:off x="9436608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30384" y="297180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9256" y="31363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10928" y="3767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compatible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4800600" y="4553712"/>
            <a:ext cx="6382512" cy="5486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4690872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Eₖ = Xₖ · maxᵣ∈ᴿₖ [ Coherent(r) · ∏ₚ ∏ₑ∈ᵣ(ₚ) VₑOₑBₑ,ₚSₑ,ₚRₑ,ₚ ]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4700016" y="5230368"/>
            <a:ext cx="6601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Coherent(r)：型号 / 版本 / 时间 / 条件 / scope 一致  ·  Xₖ：冻结的 material conflicts 已被观察并处理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960120" y="58338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部分完成来自一个 unit 的 2–5 个 checks 通过了多少，而不是 judge 随意给 0.5。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§8.1–8.3 baseline; coherent-route and conflict gate refined in v3.3 candidate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AGGREGATION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层级宏平均：等权是默认规则，不是“无权重”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73152" cy="3977640"/>
          </a:xfrm>
          <a:prstGeom prst="rect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4592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048256"/>
            <a:ext cx="188366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DRA-GRCₜ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926080" y="3456432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56432" y="1481328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481328"/>
            <a:ext cx="73152" cy="397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64592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5032" y="2048256"/>
            <a:ext cx="188366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/ 价格 / 社区 / 推荐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中共等重要的 facets 默认等权；显式优先级预编码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724144" y="3456432"/>
            <a:ext cx="4206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1481328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81328"/>
            <a:ext cx="73152" cy="39776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4592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Units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92240" y="2048256"/>
            <a:ext cx="188366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facet 下若干完整研究工作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硬约束可设 gate；其余 units 使用冻结 obligation mass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531352" y="3456432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70848" y="1481328"/>
            <a:ext cx="2468880" cy="3977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70848" y="1481328"/>
            <a:ext cx="73152" cy="3977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1645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9448" y="2048256"/>
            <a:ext cx="2084832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unit 2–5 个 canonical checks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一个语义义务被 split 后共享原质量：∑ mₖ = m_group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1097280" y="5806440"/>
            <a:ext cx="10012680" cy="43891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80160" y="594360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Raw GRCₜ = weighted-mean_facets ( weighted-mean_units ( Σₖ mₖ zₖ / Σₖ mₖ ) )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§8.4–8.5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SCORING WALKTHROUGH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同一个技术主张，如何从报告句子一路得到任务分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422392" cy="1993392"/>
          </a:xfrm>
          <a:prstGeom prst="roundRect">
            <a:avLst>
              <a:gd name="adj" fmla="val 3670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243584"/>
            <a:ext cx="73152" cy="19933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408176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失败路线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3816" y="1810512"/>
            <a:ext cx="5038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报告：“&lt;1% THD+N 证明它在高音量下失真更低。”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C=1：确实做了失真比较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V=1, O=1, B=1, R=1；S=0：页面没有音量/频率/测试条件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 z=0（unsupported over-inference）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199632" y="1243584"/>
            <a:ext cx="5422392" cy="1993392"/>
          </a:xfrm>
          <a:prstGeom prst="roundRect">
            <a:avLst>
              <a:gd name="adj" fmla="val 3670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243584"/>
            <a:ext cx="73152" cy="19933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408176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合法路线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28232" y="1810512"/>
            <a:ext cx="5038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报告：“listing 标称 &lt;1% THD+N，但未给出音量、频率与测试设置，不足以比较高音量失真。”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C=1；listing + 测量解释页组成 coherent route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V=O=B=S=R=1，且未忽略 material conflict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 z=1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3840480" cy="512064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2160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单题结果（当前 pilot 的人工校准记录）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480560" y="3675888"/>
            <a:ext cx="1965960" cy="512064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372160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446520" y="3675888"/>
            <a:ext cx="4983480" cy="512064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721608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40080" y="4187952"/>
            <a:ext cx="38404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3367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ContentBreadth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480560" y="4187952"/>
            <a:ext cx="19659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4233672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9 = 55.6%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446520" y="4187952"/>
            <a:ext cx="49834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233672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九个必要检查中，内容讨论到五个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40080" y="4700016"/>
            <a:ext cx="3840480" cy="512064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74573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grounded coverage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80560" y="4700016"/>
            <a:ext cx="1965960" cy="512064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4745736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9 = 11.1%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446520" y="4700016"/>
            <a:ext cx="4983480" cy="512064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4745736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只有一个同时满足内容与证据门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40080" y="5212080"/>
            <a:ext cx="38404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2578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Pass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4480560" y="5212080"/>
            <a:ext cx="19659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5257800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446520" y="5212080"/>
            <a:ext cx="49834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5257800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并非“完成”这道调研任务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40080" y="5724144"/>
            <a:ext cx="3840480" cy="512064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76986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Integrity-adjusted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480560" y="5724144"/>
            <a:ext cx="1965960" cy="512064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5769864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11.1% 或 0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446520" y="5724144"/>
            <a:ext cx="4983480" cy="512064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5769864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无确认不存在 URL 时为 11.1%；若有则当题为 0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868680" y="60716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这个示例是方法闭环记录，非正式榜单分；自动裁判校准未过前标记 formal_eligible=false。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Pilot: gpt-researcher × deepseek-v4-pro × dra_v3_dev_audio_0002; manual semantic calibration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TASK-LEVEL OUTPUTS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最终每道题同时给出三个直觉量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17320"/>
            <a:ext cx="73152" cy="43434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ContentBreadth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04495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 C：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报告讨论到了多少必要研究检查？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可识别“写到了但没证据”。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4343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DRA-GRC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1984248"/>
            <a:ext cx="304495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z = C×E：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有本次交付、就地绑定且支持的证据完成了多少研究工作？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这才是 grounded research coverage 构念分。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417320"/>
            <a:ext cx="73152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Pass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11896" y="1984248"/>
            <a:ext cx="304495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core checks 通过 + 输出合同满足 + 无 critical error + 无 confirmed nonexistent citation。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Solve Rate = 完整通过任务 / 固定正式任务。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2606040" y="598932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76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UnsupportedBreadthGap = ContentBreadth − DRA-GRC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§8.6–8.7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INTEGRITY GATE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链接“真实性”与“冻结世界合规”分开处理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80160" y="1207008"/>
            <a:ext cx="9646920" cy="658368"/>
          </a:xfrm>
          <a:prstGeom prst="roundRect">
            <a:avLst/>
          </a:prstGeom>
          <a:solidFill>
            <a:srgbClr val="EF476F"/>
          </a:solidFill>
          <a:ln w="15240">
            <a:solidFill>
              <a:srgbClr val="EF476F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34416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Gₜ official = 0  if confirmed nonexistent_fabrication;   otherwise Gₜ official = Gₜ pre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58368" y="2176272"/>
            <a:ext cx="5276088" cy="2788920"/>
          </a:xfrm>
          <a:prstGeom prst="roundRect">
            <a:avLst>
              <a:gd name="adj" fmla="val 2623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176272"/>
            <a:ext cx="73152" cy="2788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34086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Lane A · 确认不存在的 URL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886968" y="2743200"/>
            <a:ext cx="48920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canonicalize 并查 alias / redirect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排除 registry 缺失与 benchmark 错误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盲复核确认 URL 不存在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当题 GRC 清零，记 nonexistent-fabrication event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2176272"/>
            <a:ext cx="5276088" cy="2788920"/>
          </a:xfrm>
          <a:prstGeom prst="roundRect">
            <a:avLst>
              <a:gd name="adj" fmla="val 2623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176272"/>
            <a:ext cx="73152" cy="2788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34086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Lane B · 真实但 off-world 的 URL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6473952" y="2743200"/>
            <a:ext cx="48920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URL 在开放网可能真实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但不属于冻结 registry / snapshot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无法证明本次 sandbox 内调研；证据无资格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对应 check 失败 + off-world protocol flag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5138928" cy="713232"/>
          </a:xfrm>
          <a:prstGeom prst="roundRect">
            <a:avLst>
              <a:gd name="adj" fmla="val 10256"/>
            </a:avLst>
          </a:prstGeom>
          <a:solidFill>
            <a:srgbClr val="F0EA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25780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358384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1051560" y="561441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同时报告“off-world 仅使证据失效”与“off-world 也任务清零”两种排名。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5257800"/>
            <a:ext cx="5138928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525780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5358384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主表强制展示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446520" y="561441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nonexistent-fabrication rate · off-world rate · affected-task rate · clean-run rate · CI。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Proposed integrity rule; task-gate sensitivity must be preregistered before leaderboard release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QUALITY PANEL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Quality Panel 的操作化：只比较“怎么写”，不重复判事实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685800" y="1307592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3312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1600200" y="1234440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 query 的两份匿名报告；状态遮蔽的 evidence packet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801368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93976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9696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600200" y="2020824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一次只问一个轴：Synthesis / Conflict / Utility / Presentation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00200" y="2587752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80360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防偏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1600200" y="2807208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位置交换；矛盾 pair 标 unstable；固定长报告分段协议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0" y="3374136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66744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12464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1600200" y="3593592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anchor reports + 固定配对图；可估 anchored Bradley–Terry 轴向分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00200" y="4160520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453128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FDEBF0"/>
          </a:solidFill>
          <a:ln w="12700">
            <a:solidFill>
              <a:srgbClr val="FDEB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98848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600200" y="4379976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每轴 ≥200 对、3 名标注者；最终 n 由 power/MDE 决定；报 κ/α 与偏差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00200" y="4946904"/>
            <a:ext cx="9921240" cy="0"/>
          </a:xfrm>
          <a:prstGeom prst="line">
            <a:avLst/>
          </a:prstGeom>
          <a:noFill/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239512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E6FBF8"/>
          </a:solidFill>
          <a:ln w="12700">
            <a:solidFill>
              <a:srgbClr val="E6FB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85232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6D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600200" y="5166360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四轴另表 / 雷达图；不合成 Overall，不进入 tie-break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25880" y="5989320"/>
            <a:ext cx="9555480" cy="393192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08760" y="6126480"/>
            <a:ext cx="9189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主榜回答“有证据完成了多少”   ·   面板回答“完成得是否清楚、诚实、有用”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REPORTING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最后榜单长什么样：一个排名分 + 强制完整性列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713232" cy="74980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801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</a:t>
            </a:r>
            <a:endParaRPr lang="en-US" sz="910" dirty="0"/>
          </a:p>
        </p:txBody>
      </p:sp>
      <p:sp>
        <p:nvSpPr>
          <p:cNvPr id="6" name="Shape 4"/>
          <p:cNvSpPr/>
          <p:nvPr/>
        </p:nvSpPr>
        <p:spPr>
          <a:xfrm>
            <a:off x="1216152" y="1234440"/>
            <a:ext cx="1737360" cy="74980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9304" y="128016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2953512" y="1234440"/>
            <a:ext cx="3429000" cy="74980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280160"/>
            <a:ext cx="3282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Integrity-adjusted GRC ↑ (95% CI)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6382512" y="1234440"/>
            <a:ext cx="1600200" cy="74980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28016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GRC ↑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7982712" y="1234440"/>
            <a:ext cx="1600200" cy="74980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128016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Solve ↑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9582912" y="1234440"/>
            <a:ext cx="1280160" cy="74980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6064" y="128016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Eligible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502920" y="1984248"/>
            <a:ext cx="713232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02996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1216152" y="1984248"/>
            <a:ext cx="173736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9304" y="2029968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A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2953512" y="1984248"/>
            <a:ext cx="342900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26664" y="2029968"/>
            <a:ext cx="3282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0.63 [0.57, 0.69]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382512" y="1984248"/>
            <a:ext cx="160020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029968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0.63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7982712" y="1984248"/>
            <a:ext cx="160020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2029968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0.18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9582912" y="1984248"/>
            <a:ext cx="128016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2029968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Yes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502920" y="2734056"/>
            <a:ext cx="713232" cy="74980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77977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1216152" y="2734056"/>
            <a:ext cx="1737360" cy="74980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9304" y="2779776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B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2953512" y="2734056"/>
            <a:ext cx="3429000" cy="74980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26664" y="2779776"/>
            <a:ext cx="3282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 [0.49, 0.61]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6382512" y="2734056"/>
            <a:ext cx="1600200" cy="74980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2779776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0.61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7982712" y="2734056"/>
            <a:ext cx="1600200" cy="74980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5864" y="2779776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0.11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9582912" y="2734056"/>
            <a:ext cx="1280160" cy="74980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2779776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Yes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257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3977640"/>
            <a:ext cx="73152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1422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任务下钻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544568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facet / unit / check 通过率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ContentBreadth 与 gap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失败类型与实际证据路线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3474720" y="3977640"/>
            <a:ext cx="257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0" y="3977640"/>
            <a:ext cx="73152" cy="1737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41422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引用面板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03320" y="4544568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nonexistent / off-world / unobserved / unsupported / wrong-binding / contradicted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affected-task / clean-run / 引用数相关性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6355080" y="3977640"/>
            <a:ext cx="257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977640"/>
            <a:ext cx="73152" cy="1737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41422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过程漏斗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83680" y="4544568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SearchExposed → Delivered → UtilizedDelivered → VerifiedPass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9235440" y="3977640"/>
            <a:ext cx="257860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35440" y="397764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64040" y="41422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质量与效率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464040" y="4544568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四轴质量面板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 / token / 时间 / 成本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反事实审计证书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1143000" y="601675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DRA-GRC 差异落入预注册等效区间：宣布并列，不用质量或成本偷偷破同分。</a:t>
            </a:r>
            <a:endParaRPr lang="en-US" sz="1170" dirty="0"/>
          </a:p>
        </p:txBody>
      </p:sp>
      <p:sp>
        <p:nvSpPr>
          <p:cNvPr id="57" name="Shape 5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§18, §20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验证门 I：先证明分数不可被捷径骗取，世界与分母可重现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27080" cy="1572768"/>
          </a:xfrm>
          <a:prstGeom prst="roundRect">
            <a:avLst/>
          </a:prstGeom>
          <a:solidFill>
            <a:srgbClr val="EEF3F8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39112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84832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V1–V10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2084832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A · Scoring invariants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5074920" y="163677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ceiling · null floor · URL/fact dump · fluent unsupported · valid/invalid route · unobserved injection · local corruption · monotonicity · granularity invariance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927080" cy="15727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4050792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096512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V11–V19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2084832" y="36850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B · World / Compiler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5074920" y="364845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 determinism · candidate saturation · assertion/role/conflict · query round-trip · test necessity · answerability · held-out probes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960120" y="5650992"/>
            <a:ext cx="10241280" cy="548640"/>
          </a:xfrm>
          <a:prstGeom prst="roundRect">
            <a:avLst>
              <a:gd name="adj" fmla="val 13333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650992"/>
            <a:ext cx="73152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715000"/>
            <a:ext cx="9875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门与门不能相互抵消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通过不能抵消合法替代路线误拒；World Index 可重建不能抵消 compiler 分母错误。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§19.1–19.5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 ·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验证门 II：再证明运行仪器可接受，主分对人类调研广度有效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27080" cy="1572768"/>
          </a:xfrm>
          <a:prstGeom prst="roundRect">
            <a:avLst/>
          </a:prstGeom>
          <a:solidFill>
            <a:srgbClr val="EEF3F8"/>
          </a:solidFill>
          <a:ln w="16510">
            <a:solidFill>
              <a:srgbClr val="FF9F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39112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84832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V20–V22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2084832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 · Execution acceptance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5074920" y="163677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adapter observation normalization · delivery canary · runner/matcher/judge 人工盲标 · route FRR/FAR with confidence bounds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927080" cy="15727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4050792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096512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V23–V30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2084832" y="36850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D · Benchmark validity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5074920" y="364845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盲专家 grounded-breadth（不看 RTS/分数） · old-vs-new validity · counterfactual · reproducibility · repair · gaming · integrity · capacity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841248" y="5541264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5541264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6418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校准样本量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1069848" y="5897880"/>
            <a:ext cx="4736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1,500–2,500 判定对是 pilot target；最终 n 按 power/MDE；稀疏层只报 CI。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6208" y="5541264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5541264"/>
            <a:ext cx="73152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56418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独立效度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464808" y="5897880"/>
            <a:ext cx="4736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专家只看 query、report 和可访问引用；不看 RTS、check pass 或 DRA 分数。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validation gates · construct validity must be independent of the Research Test Suite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68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后续实施路线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先证明一道题的方法闭环，再扩到三类任务、Dev-14 和 56 题；发布门不过，不发榜。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sandbox-native scoring redesign · 2026-07-18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QUERY CONSTRUCTION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构建保留两条路：自然种子与世界反向生成分层报告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5321808" cy="4370832"/>
          </a:xfrm>
          <a:prstGeom prst="roundRect">
            <a:avLst>
              <a:gd name="adj" fmla="val 1674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98448"/>
            <a:ext cx="73152" cy="43708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6304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S · Seed / query-first（前 14 题）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865376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保留人手写的自然用户问题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标注者只看 query，独立恢复用户约束、facets 和不可删除的研究工作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再从冻结世界建 TWM，审计每项是否可答/可达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Compiler 只提出 tests，人工记录 merge / split / delete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不因为某个 harness 没做到就改 query 义务</a:t>
            </a:r>
            <a:endParaRPr lang="en-US" sz="1210" dirty="0"/>
          </a:p>
        </p:txBody>
      </p:sp>
      <p:sp>
        <p:nvSpPr>
          <p:cNvPr id="8" name="Shape 6"/>
          <p:cNvSpPr/>
          <p:nvPr/>
        </p:nvSpPr>
        <p:spPr>
          <a:xfrm>
            <a:off x="6236208" y="1298448"/>
            <a:ext cx="5321808" cy="4370832"/>
          </a:xfrm>
          <a:prstGeom prst="roundRect">
            <a:avLst>
              <a:gd name="adj" fmla="val 1674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298448"/>
            <a:ext cx="73152" cy="43708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304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G · Generated / world-first（剩余 42 题）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865376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预先选 research shape，而不是随机抽几个事实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从 World Index 选候选对象、用户约束和来源角色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建立局部 evidence subgraph / TWM，验证冲突、路线多样性和可答性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先编译 RTS，再隐藏实体细节、URL 和 witness route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生成自然 query，使用 round-trip 检查没有漏需求/泄答案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868680" y="5998464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主表整体排名，但必须同时分层报告 Route S 与 Route G，避免 42 道生成题淹没自然种子集的行为差异。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query construction proposal · Route S / Route G are separate reporting strata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WORLD-FIRST GENERATION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G 的真实生成逻辑：先定研究形状，再隐藏证据路线生成 query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84048" y="1554480"/>
            <a:ext cx="2084832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554480"/>
            <a:ext cx="73152" cy="3401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719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Shape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612648" y="2121408"/>
            <a:ext cx="17007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/ 机制 / 冲突 / 决策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需要哪些 source roles？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468880" y="3255264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1554480"/>
            <a:ext cx="2084832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554480"/>
            <a:ext cx="73152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719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Blueprint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2971800" y="2121408"/>
            <a:ext cx="17007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候选行动 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用户约束 U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/ 硬约束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828032" y="3255264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02352" y="1554480"/>
            <a:ext cx="2084832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2352" y="1554480"/>
            <a:ext cx="73152" cy="340156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1719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Subgraph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5330952" y="2121408"/>
            <a:ext cx="17007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商品主张 / 机制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社区事件 / 冲突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 + support spans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87184" y="3255264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61504" y="1554480"/>
            <a:ext cx="2084832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1554480"/>
            <a:ext cx="73152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0104" y="1719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TWM + RTS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7690104" y="2121408"/>
            <a:ext cx="17007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可答性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必要性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合法替代路线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禁止推断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546336" y="3255264"/>
            <a:ext cx="219456" cy="0"/>
          </a:xfrm>
          <a:prstGeom prst="line">
            <a:avLst/>
          </a:prstGeom>
          <a:noFill/>
          <a:ln w="1714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0656" y="1554480"/>
            <a:ext cx="2084832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1554480"/>
            <a:ext cx="73152" cy="34015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9256" y="1719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Hidden View → Query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10049256" y="2121408"/>
            <a:ext cx="17007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 URL / witness / 参考结论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保留用户需求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自然化 + round-trip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13232" y="5321808"/>
            <a:ext cx="3364992" cy="722376"/>
          </a:xfrm>
          <a:prstGeom prst="roundRect">
            <a:avLst>
              <a:gd name="adj" fmla="val 10127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321808"/>
            <a:ext cx="73152" cy="7223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42239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不能做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41832" y="567842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 E1–E4 就让 LLM 编一个故事。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4416552" y="5321808"/>
            <a:ext cx="3364992" cy="722376"/>
          </a:xfrm>
          <a:prstGeom prst="roundRect">
            <a:avLst>
              <a:gd name="adj" fmla="val 10127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16552" y="5321808"/>
            <a:ext cx="73152" cy="7223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542239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必须检查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645152" y="567842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隐藏任一 core obligation 后，query 是否仍忠实并需多分支调研。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8119872" y="5321808"/>
            <a:ext cx="3364992" cy="722376"/>
          </a:xfrm>
          <a:prstGeom prst="roundRect">
            <a:avLst>
              <a:gd name="adj" fmla="val 10127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5321808"/>
            <a:ext cx="73152" cy="7223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542239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不泄漏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348472" y="567842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只看 query 和公共输出合同，不看评分步骤、必引 URL 和参考推荐。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World-first query generation · inspired by LoHoSearch structure-first generation, adapted for DR reports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BUILD THE FIRST CLOSED LOOP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0–3：把“方法”先做成一道可重放的工程样本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353312"/>
            <a:ext cx="2596896" cy="4343400"/>
          </a:xfrm>
          <a:prstGeom prst="roundRect">
            <a:avLst>
              <a:gd name="adj" fmla="val 2817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53312"/>
            <a:ext cx="73152" cy="4343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17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· 冻结现状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20240"/>
            <a:ext cx="221284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保留旧公式、56 道 query、registry / graph / result 哈希、12 个 adapter 版本。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交付：baseline manifest + 不可变的对照表。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145536" y="347472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353312"/>
            <a:ext cx="2596896" cy="4343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53312"/>
            <a:ext cx="73152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17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· World Index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920240"/>
            <a:ext cx="221284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全库轻量结构化：URL、页面类型、标题、链接、段落、商品/概念实体、来源角色和可达性。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门：确定性重建 + 抽样解析正确率。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044184" y="347472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27648" y="1353312"/>
            <a:ext cx="2596896" cy="4343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1353312"/>
            <a:ext cx="73152" cy="4343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517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· 单题 TWM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1920240"/>
            <a:ext cx="221284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dra_v3_dev_audio_0002 生成 Task World Model：候选页、事实簇、冲突、证据角色、可接受结论包络。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门：专家能从写明为何每个 core check 可答。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942832" y="347472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26296" y="1353312"/>
            <a:ext cx="2596896" cy="4343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6296" y="1353312"/>
            <a:ext cx="73152" cy="4343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4896" y="151790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· Compiler + Matcher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54896" y="1920240"/>
            <a:ext cx="221284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query + TWM 编译 facet / unit / check；支持未预选页面的 on-demand 证据匹配。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门：合法替代路线通过，无效路线失败。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1078992" y="5989320"/>
            <a:ext cx="10012680" cy="38404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61872" y="61264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成功标志：同一份报告 → 同一 observation ledger → 同一证据判定 → 同一分数证书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§20.1–20.4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RETRIEVAL INSTRUMENT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API 是共享的实验仪器：“所有 harness 都用它”只证公平，不证有效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612648" y="1298448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298448"/>
            <a:ext cx="73152" cy="16642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30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precision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841248" y="1865376"/>
            <a:ext cx="3072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精确型号 query 返回目标型号/兼容别名的比例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53128" y="1298448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298448"/>
            <a:ext cx="73152" cy="16642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4630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coverage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4681728" y="1865376"/>
            <a:ext cx="3072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 / 论坛 / 技术 / Wikipedia 各来源的可达覆盖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93608" y="1298448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298448"/>
            <a:ext cx="73152" cy="16642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14630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recall@k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8522208" y="1865376"/>
            <a:ext cx="3072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对每题的 known witness 和 held-out admissible evidence，搜索前 k 位能否触及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12648" y="33375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3337560"/>
            <a:ext cx="73152" cy="16642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5021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Pollution rate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841248" y="3904488"/>
            <a:ext cx="3072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与型号/技术概念无关页的比例；按 source family 分层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4453128" y="33375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3128" y="3337560"/>
            <a:ext cx="73152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5021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Determinism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681728" y="3904488"/>
            <a:ext cx="3072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query + API version + snapshot 是否产生相同候选集和排序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293608" y="33375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3608" y="3337560"/>
            <a:ext cx="73152" cy="16642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22208" y="35021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Latency / failure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8522208" y="3904488"/>
            <a:ext cx="3072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/ p95 延迟、超时、空结果、来源给额失败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914400" y="5504688"/>
            <a:ext cx="4892040" cy="630936"/>
          </a:xfrm>
          <a:prstGeom prst="roundRect">
            <a:avLst>
              <a:gd name="adj" fmla="val 11594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504688"/>
            <a:ext cx="73152" cy="6309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56869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分责记录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漏斗中分开 API 未暴露 / agent 未点击 / 抓取失败 / 已交付未使用。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327648" y="5504688"/>
            <a:ext cx="4892040" cy="630936"/>
          </a:xfrm>
          <a:prstGeom prst="roundRect">
            <a:avLst>
              <a:gd name="adj" fmla="val 11594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5504688"/>
            <a:ext cx="73152" cy="6309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556869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冻结与回归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search API version + relevance test suite + 每次改动前后的证书。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API quality certificate · benchmark instrument validity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EXTERNAL PROTOCOL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别人拿到 DRA，新 harness 应该如何使用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0896" y="1508760"/>
            <a:ext cx="173736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508760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Contract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39496" y="2075688"/>
            <a:ext cx="13533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 search / fetch / delivery / report 事件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2057400" y="327355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76856" y="1508760"/>
            <a:ext cx="173736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1508760"/>
            <a:ext cx="73152" cy="3520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Canary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2505456" y="2075688"/>
            <a:ext cx="13533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ledger 记录的 artifact 真的进入了模型上下文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023360" y="327355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2816" y="1508760"/>
            <a:ext cx="173736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2816" y="1508760"/>
            <a:ext cx="73152" cy="3520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Run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4471416" y="2075688"/>
            <a:ext cx="13533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跑固定 task manifest；不需要先看现有 12 harness 输出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989320" y="327355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08776" y="1508760"/>
            <a:ext cx="173736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508760"/>
            <a:ext cx="73152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Seal Bundle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437376" y="2075688"/>
            <a:ext cx="13533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report + ledger hash + adapter / model / tool version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955280" y="327355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74736" y="1508760"/>
            <a:ext cx="173736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1508760"/>
            <a:ext cx="73152" cy="3520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 Evaluation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403336" y="2075688"/>
            <a:ext cx="13533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epoch novel evidence 盲裁；同 certificate snapshot 重算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9921240" y="3273552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40696" y="1508760"/>
            <a:ext cx="173736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0696" y="1508760"/>
            <a:ext cx="73152" cy="3520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9296" y="1673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Certificate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10369296" y="2075688"/>
            <a:ext cx="13533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/ adjusted GRC、Task Solve、integrity、funnel、quality 面板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822960" y="54132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413248"/>
            <a:ext cx="73152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5138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track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1051560" y="5769864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能捕获 delivered-artifact lineage：参与正式榜单与 evidence gate。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263640" y="54132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5413248"/>
            <a:ext cx="73152" cy="65836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55138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Report-only track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6492240" y="5769864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无法证明本次交付证据：只报 content / post-hoc citation 诊断，不与 full track 混排。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new harness does not need comparison-harness outputs; it needs an auditable adapter and frozen protocol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CALIBRATE THE MEASUREMENT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4–7：统一观测协议，然后校准编译器和裁判器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47472" y="1225296"/>
            <a:ext cx="658368" cy="93268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271016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1225296"/>
            <a:ext cx="2560320" cy="93268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271016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1225296"/>
            <a:ext cx="4251960" cy="93268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271016"/>
            <a:ext cx="4105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必过验收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18120" y="1225296"/>
            <a:ext cx="3986784" cy="93268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1272" y="127101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不过时怎么办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157984"/>
            <a:ext cx="658368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203704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1005840" y="2157984"/>
            <a:ext cx="256032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203704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harness 统一 Observation Protocol v2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3566160" y="2157984"/>
            <a:ext cx="425196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203704"/>
            <a:ext cx="4105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fetch / browser / subagent / cache 的事件规范化；令牌传递正确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7818120" y="2157984"/>
            <a:ext cx="3986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220370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 adapter 标记 ineligible，不用报告文字倒推观测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347472" y="3090672"/>
            <a:ext cx="658368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136392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1005840" y="3090672"/>
            <a:ext cx="2560320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136392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 + evidence certificate + replay CLI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3566160" y="3090672"/>
            <a:ext cx="4251960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3136392"/>
            <a:ext cx="4105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四份参考报告与局部腐蚀版满足单调性和局部性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7818120" y="3090672"/>
            <a:ext cx="3986784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313639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回到单题修 matcher / runner，不扩题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347472" y="4023360"/>
            <a:ext cx="658368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069080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P6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1005840" y="4023360"/>
            <a:ext cx="256032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069080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双人盲标与 adjudication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3566160" y="4023360"/>
            <a:ext cx="4251960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4069080"/>
            <a:ext cx="4105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编译器恢复的必要要求与人类带一致性和可答性证书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818120" y="4023360"/>
            <a:ext cx="3986784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40690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修改类型学 / 编译规则，不手工掩盖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347472" y="4956048"/>
            <a:ext cx="658368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5001768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1005840" y="4956048"/>
            <a:ext cx="2560320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5001768"/>
            <a:ext cx="2414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1,500–2,500 个判定对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3566160" y="4956048"/>
            <a:ext cx="4251960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5001768"/>
            <a:ext cx="4105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 / 伪证据 / 合法替代 / 边界四层；最终 n 按 power/MDE；稀疏层只报 CI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7818120" y="4956048"/>
            <a:ext cx="3986784" cy="93268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91272" y="500176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确定性下沉或加入 PENDING 队列；发布前 PENDING=0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658368" y="5596128"/>
            <a:ext cx="3493008" cy="612648"/>
          </a:xfrm>
          <a:prstGeom prst="roundRect">
            <a:avLst>
              <a:gd name="adj" fmla="val 11940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" y="5596128"/>
            <a:ext cx="73152" cy="6126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" y="5660136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 κ / Krippendorff's α + 分歧类型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4361688" y="5596128"/>
            <a:ext cx="3493008" cy="612648"/>
          </a:xfrm>
          <a:prstGeom prst="roundRect">
            <a:avLst>
              <a:gd name="adj" fmla="val 11940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61688" y="5596128"/>
            <a:ext cx="73152" cy="6126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0288" y="5660136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 agreement；看 FRR / FAR / macro-F1 / CI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8065008" y="5596128"/>
            <a:ext cx="3493008" cy="612648"/>
          </a:xfrm>
          <a:prstGeom prst="roundRect">
            <a:avLst>
              <a:gd name="adj" fmla="val 11940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65008" y="5596128"/>
            <a:ext cx="73152" cy="6126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93608" y="5660136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检查路线、长度、文风、位置和 harness-family 偏差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§20.5–20.8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SCALE ONLY AFTER VALIDITY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8–10：扩题、因果审计、冻结发布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73152" cy="448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 · 56 题扩展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07238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S：14 道手工种子，用于可解释的编译校准。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G：剩余 42 题从任务世界和类型模板编译。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按主题、任务形态、来源角色、难度分层；每题先过 answerability + necessity + shortcut test。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425696" y="128016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5696" y="1280160"/>
            <a:ext cx="73152" cy="4480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4447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 · 抽样因果审计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54296" y="1847088"/>
            <a:ext cx="307238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8–10 道 pivotal 题构造 W′：修改决定性事实、保留界面和工具协议。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 harness，检查报告中的相关结论是否跟着世界改变。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 Causal Grounding 独立证书，不与主分相加。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57032" y="1280160"/>
            <a:ext cx="3456432" cy="44805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280160"/>
            <a:ext cx="73152" cy="4480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4447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P10 · 冻结与发布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847088"/>
            <a:ext cx="307238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同时冻结 world snapshot、index、TWM、RTS、matcher、judge、scorer、adapter 和提交协议。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12 harness 只用于特征化与攻击面发现，不反向优化正式题。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改动走 erratum / challenger / 新版本，不静默改分。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68680" y="599846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关键分界：评测集必须覆盖“合法证据空间”，但不能根据 12 个现有 harness 的路线定制正式答案。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§20.9–20.11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SCOPE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把论文最小闭环、正式 benchmark 和增强审计分开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25880"/>
            <a:ext cx="3456432" cy="4407408"/>
          </a:xfrm>
          <a:prstGeom prst="roundRect">
            <a:avLst>
              <a:gd name="adj" fmla="val 2116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25880"/>
            <a:ext cx="73152" cy="4407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论文最小闭环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892808"/>
            <a:ext cx="30723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一题端到端工程样本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 DR 任务 MVP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compiler / matcher / judge 校准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新旧分与盲专家广度判断的效度对照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443984" y="1325880"/>
            <a:ext cx="3456432" cy="4407408"/>
          </a:xfrm>
          <a:prstGeom prst="roundRect">
            <a:avLst>
              <a:gd name="adj" fmla="val 2116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43984" y="1325880"/>
            <a:ext cx="73152" cy="44074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4904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正式 Benchmark Gate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2584" y="1892808"/>
            <a:ext cx="30723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题 Route S / G 分层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API 质量证书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adapter 资格与 report-only 轨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certificate epoch + PENDING=0 + 全部 ReleaseGates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66176" y="1325880"/>
            <a:ext cx="3456432" cy="4407408"/>
          </a:xfrm>
          <a:prstGeom prst="roundRect">
            <a:avLst>
              <a:gd name="adj" fmla="val 2116"/>
            </a:avLst>
          </a:prstGeom>
          <a:solidFill>
            <a:srgbClr val="F0EAFE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325880"/>
            <a:ext cx="73152" cy="44074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94776" y="14904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增强研究轨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94776" y="1892808"/>
            <a:ext cx="30723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8–10 道 twin-world 因果审计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Envelope 更完整形式化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四轴质量面板的大规模定标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跨版本 challenger / canary / 长期监控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04672" y="5998464"/>
            <a:ext cx="10561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A 是当前方法论必需；B 是对外发榜必需；C 是可独立发展的增强贡献，不应阻塞最小论文闭环。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fence: paper MVP ≠ formal leaderboard ≠ enhanced causal audit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HUMAN CALIBRATION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不是“手写 14 份标准答案”，而是标定测量过程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71600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1325880" y="12161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双人盲拆 query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3794760" y="114300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独立标注用户约束、不可省略的研究方向和可选项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68680" y="1856232"/>
            <a:ext cx="105156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13432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5915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325880" y="2203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Compiler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3794760" y="2130552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 merge / split / delete / necessity 判定；记录所有人工修改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68680" y="2843784"/>
            <a:ext cx="105156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300984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46704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325880" y="31912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audit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3794760" y="311810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确认冻结世界中至少一条合法支持组合；必须允许替代页面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" y="3831336"/>
            <a:ext cx="105156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288536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334256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325880" y="41788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/ 捷径测试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3794760" y="4105656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check 是否改变任务实质？只倒 URL 或写流畅空话能否骗分？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68680" y="4818888"/>
            <a:ext cx="1051560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276088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5321808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325880" y="51663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独立裁决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3794760" y="5093208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测人际带、编译器编辑率、分歧、用时与可重现性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60120" y="6007608"/>
            <a:ext cx="10241280" cy="3657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1C2541"/>
            </a:solidFill>
            <a:prstDash val="solid"/>
          </a:ln>
          <a:effectLst>
            <a:outerShdw sx="100000" sy="100000" kx="0" ky="0" algn="bl" rotWithShape="0" blurRad="25400" dist="50800" dir="2700000">
              <a:srgbClr val="0B132B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43000" y="6144768"/>
            <a:ext cx="9875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人类标注的作用：为 Compiler / Matcher / Judge 建立效度证据，不是为每道题规定唯一路线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calibration protocol · DRA v3.2 §19.3, §20.7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DATASET CONSTRUCTION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题扩展：不再用“主题 × 随机原型”就直接入榜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441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规格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3502152" y="129844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7872" y="13441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/ 排序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382512" y="129844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3441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宣传审核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9262872" y="129844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08592" y="13441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1792" y="19019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94767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3502152" y="19019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94767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跨来源综合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382512" y="19019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94767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/ 推荐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9262872" y="190195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94767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有界缺失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21792" y="250545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5511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耐用 / 社区经验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502152" y="250545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5511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 / 行动计划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382512" y="250545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25511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 / 变化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262872" y="2505456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25511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跨页聚合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03504" y="3401568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3401568"/>
            <a:ext cx="73152" cy="21031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35661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S · 14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2104" y="3968496"/>
            <a:ext cx="304495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14 道种子题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人类可解释地校准类型学与编译器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4425696" y="3401568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25696" y="3401568"/>
            <a:ext cx="73152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35661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G · 42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54296" y="3968496"/>
            <a:ext cx="304495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由冻结世界 + 任务类型生成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反向编译 query + tests，过滤后才入集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8247888" y="3401568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47888" y="3401568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76488" y="35661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Held-out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476488" y="3968496"/>
            <a:ext cx="304495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保留未参与调试的路线、文风和 harness-family 输出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用于测 route binding 和过拟合</a:t>
            </a:r>
            <a:endParaRPr lang="en-US" sz="1090" dirty="0"/>
          </a:p>
        </p:txBody>
      </p:sp>
      <p:sp>
        <p:nvSpPr>
          <p:cNvPr id="40" name="Text 38"/>
          <p:cNvSpPr/>
          <p:nvPr/>
        </p:nvSpPr>
        <p:spPr>
          <a:xfrm>
            <a:off x="731520" y="598932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入集条件：Query round-trip 通过 ∧ Core checks 全部可答/可达 ∧ 无单路线锁定 ∧ 无捷径解 ∧ 类型配额满足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§5, §20.9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RISK REGISTER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七个最可能被 challenge 的点，必须在发榜前给出证书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2788920" cy="65836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172968" y="1143000"/>
            <a:ext cx="5806440" cy="65836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188720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可观测证据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79408" y="1143000"/>
            <a:ext cx="2468880" cy="658368"/>
          </a:xfrm>
          <a:prstGeom prst="rect">
            <a:avLst/>
          </a:prstGeom>
          <a:solidFill>
            <a:srgbClr val="1C2541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118872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801368"/>
            <a:ext cx="2788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7088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 漏页/解析错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172968" y="1801368"/>
            <a:ext cx="58064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847088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分层抽样的覆盖率、字段正确率、重建 hash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979408" y="1801368"/>
            <a:ext cx="2468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4708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ValidityGate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384048" y="2459736"/>
            <a:ext cx="278892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05456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TWM 候选池漏证据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172968" y="2459736"/>
            <a:ext cx="580644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505456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候选饱和曲线 + held-out 新页匹配回收率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79408" y="2459736"/>
            <a:ext cx="246888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50545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ValidityGate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84048" y="3118104"/>
            <a:ext cx="2788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63824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Compiler 把合理报告拒绝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172968" y="3118104"/>
            <a:ext cx="58064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163824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合法替代层 FRR + 路线簇分层 CI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979408" y="3118104"/>
            <a:ext cx="2468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3163824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FRR gate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384048" y="3776472"/>
            <a:ext cx="278892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22192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 把空话当完成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3172968" y="3776472"/>
            <a:ext cx="580644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822192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流畅无证据 / URL dump / 局部腐蚀测试集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979408" y="3776472"/>
            <a:ext cx="246888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382219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FAR gate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84048" y="4434840"/>
            <a:ext cx="2788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原子粒度改变分数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3172968" y="4434840"/>
            <a:ext cx="58064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4480560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 split / merge metamorphic test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979408" y="4434840"/>
            <a:ext cx="2468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448056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GranularityGate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384048" y="5093208"/>
            <a:ext cx="278892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138928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fabricated URL 误杀 registry 缺失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3172968" y="5093208"/>
            <a:ext cx="580644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5138928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alias / redirect / registry 修复的盲复核日志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979408" y="5093208"/>
            <a:ext cx="2468880" cy="658368"/>
          </a:xfrm>
          <a:prstGeom prst="rect">
            <a:avLst/>
          </a:prstGeom>
          <a:solidFill>
            <a:srgbClr val="EEF3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513892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IntegrityGate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384048" y="5751576"/>
            <a:ext cx="2788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97296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队列和人力超出承受能力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3172968" y="5751576"/>
            <a:ext cx="58064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5797296"/>
            <a:ext cx="5660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 流入率、清空时间、单题成本和 p95 延迟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8979408" y="5751576"/>
            <a:ext cx="2468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52560" y="579729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CapacityGate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694944" y="5925312"/>
            <a:ext cx="10789920" cy="429768"/>
          </a:xfrm>
          <a:prstGeom prst="roundRect">
            <a:avLst>
              <a:gd name="adj" fmla="val 17021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944" y="5925312"/>
            <a:ext cx="73152" cy="4297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" y="59893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发布规则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任意一道门未通过，不得用平均分或更多样本抵消；修复测量问题后发布新版本。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v3.2 §19.5, §20.10, §21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GATE-DRIVEN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建议时间线：以验证门为节点，不以“写完代码”为节点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05840" y="3246120"/>
            <a:ext cx="10149840" cy="0"/>
          </a:xfrm>
          <a:prstGeom prst="line">
            <a:avLst/>
          </a:prstGeom>
          <a:noFill/>
          <a:ln w="635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3026664"/>
            <a:ext cx="438912" cy="43891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1170432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216152"/>
            <a:ext cx="850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W1–2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576072" y="1673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单题世界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3730752"/>
            <a:ext cx="1965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P0–P2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 slice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TWM + 可答性证书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3657600" y="3026664"/>
            <a:ext cx="438912" cy="438912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170432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216152"/>
            <a:ext cx="850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W3–4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2880360" y="1673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评分闭环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730752"/>
            <a:ext cx="1965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P3–P5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Compiler / Matcher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Ledger / Replay / Score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961888" y="3026664"/>
            <a:ext cx="438912" cy="438912"/>
          </a:xfrm>
          <a:prstGeom prst="ellipse">
            <a:avLst/>
          </a:prstGeom>
          <a:solidFill>
            <a:srgbClr val="FF9F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1170432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16152"/>
            <a:ext cx="850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W5–7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184648" y="1673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Dev-14 校准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4648" y="3730752"/>
            <a:ext cx="1965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P6–P7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双人盲标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四层校准集 + FRR/FAR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266176" y="3026664"/>
            <a:ext cx="438912" cy="438912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9288" y="1170432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1216152"/>
            <a:ext cx="850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W8–10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488936" y="1673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题扩展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88936" y="3730752"/>
            <a:ext cx="1965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S + Route G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抽样重审 + 类型平衡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10570464" y="3026664"/>
            <a:ext cx="438912" cy="438912"/>
          </a:xfrm>
          <a:prstGeom prst="ellipse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23576" y="1170432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9296" y="1216152"/>
            <a:ext cx="850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W11+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9793224" y="1673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审计与发布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93224" y="3730752"/>
            <a:ext cx="1965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P9–P10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W′ 因果审计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冻结、重跑、发榜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960120" y="5285232"/>
            <a:ext cx="10287000" cy="850392"/>
          </a:xfrm>
          <a:prstGeom prst="roundRect">
            <a:avLst>
              <a:gd name="adj" fmla="val 8602"/>
            </a:avLst>
          </a:prstGeom>
          <a:solidFill>
            <a:srgbClr val="FDEB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5285232"/>
            <a:ext cx="73152" cy="8503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385816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这不是工期承诺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1188720" y="5641848"/>
            <a:ext cx="9902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每个节点都要看实测的人力、PENDING 流量和统计证书；任一 Gate 失败，时间线自动暂停。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Proposed implementation schedule · subject to ReleaseGates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VI · IMMEDIATE ACTION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下一个实验不是“再跑一个强 harness”，而是验证测量闭环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98448"/>
            <a:ext cx="73152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世界侧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95528" y="1865376"/>
            <a:ext cx="2231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Index slice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Contract + TWM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RTS + evidence pools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3191256" y="294436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298448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298448"/>
            <a:ext cx="73152" cy="3291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4630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参考输出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703320" y="1865376"/>
            <a:ext cx="2231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/ null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dump / 流畅无证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合法替代 / 无效路线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099048" y="294436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82512" y="1298448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298448"/>
            <a:ext cx="73152" cy="32918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4630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局部攻击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611112" y="1865376"/>
            <a:ext cx="2231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unobserved citation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wrong binding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/ contradicted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fabricated URL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9006840" y="294436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90304" y="1298448"/>
            <a:ext cx="2615184" cy="32918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0304" y="1298448"/>
            <a:ext cx="73152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8904" y="14630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评分证书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9518904" y="1865376"/>
            <a:ext cx="22311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Ledger v2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check-level verdicts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GRC + task gate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 bundle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777240" y="4983480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E6FB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83480"/>
            <a:ext cx="73152" cy="9509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08406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成功条件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340096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合法替代路线与 reference route 获得等价通过。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389120" y="4983480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FFF3D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983480"/>
            <a:ext cx="73152" cy="9509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508406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成功条件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5340096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局部腐蚀只影响对应 check，但 fabricated citation 触发任务级门。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001000" y="4983480"/>
            <a:ext cx="3401568" cy="950976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4983480"/>
            <a:ext cx="73152" cy="9509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508406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成功条件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5340096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第三方能从冻结产物重放每一个 verdict 和最终分数。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 engineering smoke test · dra_v3_dev_audio_0002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最后带走五句话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538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81328" y="1417320"/>
            <a:ext cx="9921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旧系统的 Fact / PoF / Completeness 不是都无用；它们是诊断信号，但不应用任意权重先加再乘。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731520" y="22951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2258568"/>
            <a:ext cx="9921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的核心构念是“广度任务中，有本次交付证据地完成了多少必要研究工作”。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31363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3099816"/>
            <a:ext cx="9921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告诉我们：全量做轻量结构，贵的语义工作只在单题局部世界中做。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3941064"/>
            <a:ext cx="9921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GRC 用 check-level C×E + 层级聚合；确认不存在的 URL 另产生 integrity-adjusted 排名分；质量独立展示。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31520" y="48188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4782312"/>
            <a:ext cx="9921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标准答案不是一条路线，而是一套允许替代证据、可重放、可校准的执行协议。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051560" y="5833872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先一题 → 再三类 MVP → Dev-14 → 56 题 → 冻结后跑 12 harness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3040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 sandbox-native scoring redesign · conclusion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PRIMARY SOURCES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主要文献与内部依据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5449824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73152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构题、广度与长程研究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65376"/>
            <a:ext cx="506577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LoHoSearch, arXiv:2606.12837 (v2, 2026-06-17)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DEEPRUBRIC, arXiv:2606.17029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QUBRIC, arXiv:2606.03968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WideSearch, arXiv:2508.07999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DeepSearchQA, arXiv:2601.20975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DeepWideSearch, arXiv:2510.20168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DeepResearchGym, arXiv:2505.19253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Mind2Web 2, arXiv:2506.21506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254496" y="1298448"/>
            <a:ext cx="5340096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50800" dir="2700000">
              <a:srgbClr val="9AA9B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1298448"/>
            <a:ext cx="73152" cy="4526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1463040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引用、信实性与冻结环境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83096" y="1865376"/>
            <a:ext cx="4956048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ALCE, arXiv:2305.14627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FActScore, arXiv:2305.14251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BrowseComp-Plus, arXiv:2508.06600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DeepResearch Bench II, arXiv:2601.08536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Correctness is not Faithfulness, arXiv:2412.18004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FutureSearch Deep Research Bench / RetroSearch, arXiv:2506.06287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DRA Current Method (2026-07-14)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DRA Sandbox-native Scoring Design v3.2 (2026-07-18)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6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DRA Scoring Redesign v3.3 candidate (this deck)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68680" y="605332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LoHoSearch 原论文图 1 / 2 / 4 按 CC BY 4.0 使用；页内数据与公式均以论文实际文本为准。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562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Primary-source reading list · arXiv identifiers shown for reproducibility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Deep Research Arena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 评测重构：从报告级乘法到沙盒原生证据测试</dc:title>
  <dc:subject>DRA 沙盒原生 Deep Research 评测体系重构</dc:subject>
  <dc:creator>刘弈博 / DRA</dc:creator>
  <cp:lastModifiedBy>刘弈博 / DRA</cp:lastModifiedBy>
  <cp:revision>1</cp:revision>
  <dcterms:created xsi:type="dcterms:W3CDTF">2026-07-18T19:10:27Z</dcterms:created>
  <dcterms:modified xsi:type="dcterms:W3CDTF">2026-07-18T19:10:27Z</dcterms:modified>
</cp:coreProperties>
</file>